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88952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82880" cy="24688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06072" y="2194560"/>
            <a:ext cx="182880" cy="24688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RESUMIO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BEAF8"/>
                </a:solidFill>
              </a:rPr>
              <a:t>AI Resume Screening &amp; Recruitment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86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BEAF8"/>
                </a:solidFill>
              </a:rPr>
              <a:t>DBMS Project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937760"/>
            <a:ext cx="2194560" cy="868680"/>
          </a:xfrm>
          <a:prstGeom prst="rect">
            <a:avLst/>
          </a:prstGeom>
          <a:solidFill>
            <a:srgbClr val="DB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50109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26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394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Relational Schema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4937760"/>
            <a:ext cx="2194560" cy="868680"/>
          </a:xfrm>
          <a:prstGeom prst="rect">
            <a:avLst/>
          </a:prstGeom>
          <a:solidFill>
            <a:srgbClr val="DB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50109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3NF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394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Fully Normalized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937760"/>
            <a:ext cx="2194560" cy="868680"/>
          </a:xfrm>
          <a:prstGeom prst="rect">
            <a:avLst/>
          </a:prstGeom>
          <a:solidFill>
            <a:srgbClr val="DB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0109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8 Phases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394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Development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4937760"/>
            <a:ext cx="2194560" cy="868680"/>
          </a:xfrm>
          <a:prstGeom prst="rect">
            <a:avLst/>
          </a:prstGeom>
          <a:solidFill>
            <a:srgbClr val="DB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50109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100% FK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5394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</a:rPr>
              <a:t>Submitted by: M. Sundhip Manhooj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8"/>
                </a:solidFill>
              </a:rPr>
              <a:t>What is Resumio?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8"/>
                </a:solidFill>
              </a:rPr>
              <a:t>Resumio — AI Resume Screening &amp; Recruitment Portal  |  DBMS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7132320" cy="52120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7132320" cy="34747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24712"/>
            <a:ext cx="6858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About the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36192"/>
            <a:ext cx="6903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Resumio is a full-stack AI-powered Recruitment Portal.</a:t>
            </a:r>
          </a:p>
          <a:p>
            <a:pPr algn="l"/>
            <a:r>
              <a:rPr sz="1100" b="0">
                <a:solidFill>
                  <a:srgbClr val="66666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Candidates can: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- Create profiles, upload resumes, apply to jobs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- View AI match scores, skill gap analysis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- Track applications and interview schedules</a:t>
            </a:r>
          </a:p>
          <a:p>
            <a:pPr algn="l"/>
            <a:r>
              <a:rPr sz="1100" b="0">
                <a:solidFill>
                  <a:srgbClr val="66666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Recruiters can: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- Post jobs and manage applicant pipelines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- View AI-ranked candidates with match scores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- Schedule interviews and send notifications</a:t>
            </a:r>
          </a:p>
          <a:p>
            <a:pPr algn="l"/>
            <a:r>
              <a:rPr sz="1100" b="0">
                <a:solidFill>
                  <a:srgbClr val="66666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Built across 10 development phases.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Database: SQLite with 26 relational tables in 3NF.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097280"/>
            <a:ext cx="42976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097280"/>
            <a:ext cx="4297680" cy="34747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124712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1600200"/>
            <a:ext cx="4114800" cy="566928"/>
          </a:xfrm>
          <a:prstGeom prst="rect">
            <a:avLst/>
          </a:prstGeom>
          <a:solidFill>
            <a:srgbClr val="DBEAF8"/>
          </a:solidFill>
          <a:ln w="381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16733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7099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Relational Tables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2258568"/>
            <a:ext cx="411480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331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36829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User Roles: Candidate, Recruiter, 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2916936"/>
            <a:ext cx="4114800" cy="566928"/>
          </a:xfrm>
          <a:prstGeom prst="rect">
            <a:avLst/>
          </a:prstGeom>
          <a:solidFill>
            <a:srgbClr val="DBEAF8"/>
          </a:solidFill>
          <a:ln w="381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99008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0266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Development Phases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3575304"/>
            <a:ext cx="411480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3648456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685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Phase Test Suites (All Passing)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4233672"/>
            <a:ext cx="4114800" cy="566928"/>
          </a:xfrm>
          <a:prstGeom prst="rect">
            <a:avLst/>
          </a:prstGeom>
          <a:solidFill>
            <a:srgbClr val="DBEAF8"/>
          </a:solidFill>
          <a:ln w="381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430682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343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FK Referential Integrity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79" y="4892040"/>
            <a:ext cx="411480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49651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3NF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50017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Full Database Normalization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5550408"/>
            <a:ext cx="4114800" cy="566928"/>
          </a:xfrm>
          <a:prstGeom prst="rect">
            <a:avLst/>
          </a:prstGeom>
          <a:solidFill>
            <a:srgbClr val="DBEAF8"/>
          </a:solidFill>
          <a:ln w="381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56235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6601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FK Violations on Startup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8"/>
                </a:solidFill>
              </a:rPr>
              <a:t>Technologies used to build Resumio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8"/>
                </a:solidFill>
              </a:rPr>
              <a:t>Resumio — AI Resume Screening &amp; Recruitment Portal  |  DBMS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27889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278892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247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2606040" cy="713232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React 19 + TypeScript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26060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Vite 8 (Build Tool)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2606040" cy="713232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Tailwind CSS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51959"/>
            <a:ext cx="26060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React Router v7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20640"/>
            <a:ext cx="2606040" cy="713232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Lucide Icons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1097280"/>
            <a:ext cx="27889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1097280"/>
            <a:ext cx="2788920" cy="411480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11247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1645920"/>
            <a:ext cx="2606040" cy="713232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18288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Node.js + Express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514600"/>
            <a:ext cx="26060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26974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better-sqlite3 v11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383280"/>
            <a:ext cx="2606040" cy="713232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5661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JWT Authentication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4251959"/>
            <a:ext cx="26060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44348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bcryptjs (Passwords)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5120640"/>
            <a:ext cx="2606040" cy="713232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53035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Multer (File Uploads)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097280"/>
            <a:ext cx="27889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1097280"/>
            <a:ext cx="27889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11247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59" y="1645920"/>
            <a:ext cx="2606040" cy="713232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18288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SQLite (resumio.db)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59" y="2514600"/>
            <a:ext cx="26060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6974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26 Tables, 3NF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59" y="3383280"/>
            <a:ext cx="2606040" cy="713232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5661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PRAGMA foreign_keys 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59" y="4251959"/>
            <a:ext cx="26060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4348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B-Tree Indexes (11)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59" y="5120640"/>
            <a:ext cx="2606040" cy="713232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3035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ACID Transactions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1097280"/>
            <a:ext cx="27889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89720" y="1097280"/>
            <a:ext cx="278892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11247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Layer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81160" y="1645920"/>
            <a:ext cx="2606040" cy="713232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2600" y="18288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Google Gemini API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81160" y="2514600"/>
            <a:ext cx="26060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72600" y="26974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Resume Parser (NLP)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81160" y="3383280"/>
            <a:ext cx="2606040" cy="713232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72600" y="35661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Match Scoring Engine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81160" y="4251959"/>
            <a:ext cx="26060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72600" y="44348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Skill Gap Analysis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81160" y="5120640"/>
            <a:ext cx="2606040" cy="713232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72600" y="53035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SHA-256 Duplicate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Entity-Relationship (ER)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8"/>
                </a:solidFill>
              </a:rPr>
              <a:t>Chen's Notation — Entities, Relationships, Attributes &amp; Cardinalities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8"/>
                </a:solidFill>
              </a:rPr>
              <a:t>Resumio — AI Resume Screening &amp; Recruitment Portal  |  DBMS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05840"/>
            <a:ext cx="1920240" cy="320040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042415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3A5F"/>
                </a:solidFill>
              </a:rPr>
              <a:t>Rectangle = 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6272" y="1005840"/>
            <a:ext cx="1920240" cy="320040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9424" y="1042415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00000"/>
                </a:solidFill>
              </a:rPr>
              <a:t>Double Rect = Weak 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9664" y="1005840"/>
            <a:ext cx="1920240" cy="320040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1042415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00080"/>
                </a:solidFill>
              </a:rPr>
              <a:t>Diamond = 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005840"/>
            <a:ext cx="1920240" cy="320040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042415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8B4C"/>
                </a:solidFill>
              </a:rPr>
              <a:t>Ellipse = Attribute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6448" y="1005840"/>
            <a:ext cx="1920240" cy="320040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042415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A6F1E"/>
                </a:solidFill>
              </a:rPr>
              <a:t>Underlined = Primary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49840" y="1005840"/>
            <a:ext cx="1920240" cy="320040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22992" y="1042415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66666"/>
                </a:solidFill>
              </a:rPr>
              <a:t>Dashed Ellipse = Derived Attr.</a:t>
            </a:r>
          </a:p>
        </p:txBody>
      </p:sp>
      <p:pic>
        <p:nvPicPr>
          <p:cNvPr id="20" name="Picture 19" descr="media_17899256563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17320"/>
            <a:ext cx="117957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Relational Schema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8"/>
                </a:solidFill>
              </a:rPr>
              <a:t>Phase 1: Core Authentication &amp; Candidate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8"/>
                </a:solidFill>
              </a:rPr>
              <a:t>Resumio — AI Resume Screening &amp; Recruitment Portal  |  DBMS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128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TABLE 1: USERS  (Strong Entity)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11612880" cy="34747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490472"/>
            <a:ext cx="302574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Attribute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4661" y="1490472"/>
            <a:ext cx="24451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9495" y="1490472"/>
            <a:ext cx="581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92224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2880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6F1E"/>
                </a:solidFill>
              </a:rPr>
              <a:t>[PK]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5517" y="182880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0351" y="182880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PRIMARY KEY,  NOT NULL,  UNIQUE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9797" y="17922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64631" y="17922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084831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2140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5517" y="212140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VARCHAR(255)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0351" y="212140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NULL,  UNIQUE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9797" y="2084831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4631" y="2084831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377440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41401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password_hash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5517" y="241401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VARCHAR(255)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0351" y="241401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9797" y="23774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4631" y="23774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670048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706624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5517" y="2706624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0351" y="2706624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NULL,  CHECK(candidate/recruiter/admin)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09797" y="267004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64631" y="267004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2962656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99923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5517" y="299923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0351" y="299923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'active'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9797" y="296265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64631" y="296265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3255264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29184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created_at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55517" y="329184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0351" y="329184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NULL,  DEFAULT datetime('now')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09797" y="325526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64631" y="325526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547872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58444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updated_at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55517" y="358444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0351" y="358444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NULL,  DEFAULT datetime('now')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09797" y="354787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64631" y="354787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3675887"/>
            <a:ext cx="116128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3712463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TABLE 2: CANDIDATE_PROFILES  (Strong Entity)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041648"/>
            <a:ext cx="11612880" cy="34747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" y="4087368"/>
            <a:ext cx="302574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Attribute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64661" y="4087368"/>
            <a:ext cx="24451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 Type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19495" y="4087368"/>
            <a:ext cx="581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389120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442569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6F1E"/>
                </a:solidFill>
              </a:rPr>
              <a:t>[PK] 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5517" y="442569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10351" y="442569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PRIMARY KEY,  NOT NULL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09797" y="438912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64631" y="438912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4320" y="4681728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718304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user_id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55517" y="4718304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10351" y="4718304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USERS(id),  ON DELETE CASCADE,  UNIQUE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09797" y="468172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64631" y="468172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4974336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" y="501091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full_name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55517" y="501091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VARCHAR(100)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10351" y="501091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09797" y="497433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64631" y="497433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4320" y="5266944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530352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phone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55517" y="530352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VARCHAR(20)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10351" y="530352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NULL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09797" y="526694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64631" y="526694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4320" y="5559552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" y="559612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location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55517" y="559612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VARCHAR(100)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10351" y="559612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NULL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09797" y="555955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964631" y="555955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4320" y="5852160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0040" y="588873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headline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5517" y="588873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VARCHAR(200)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10351" y="588873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NULL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09797" y="585216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964631" y="585216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74320" y="6144768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" y="6181344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bio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55517" y="6181344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TEXT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10351" y="6181344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NULL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09797" y="614476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964631" y="614476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4320" y="6437376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0040" y="647395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profile_completion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55517" y="647395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10351" y="647395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30  (derived — auto-calculated)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09797" y="643737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964631" y="643737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Relational Schema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8"/>
                </a:solidFill>
              </a:rPr>
              <a:t>Phase 1: Recruiter Profiles  |  Phase 3: Job Postings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8"/>
                </a:solidFill>
              </a:rPr>
              <a:t>Resumio — AI Resume Screening &amp; Recruitment Portal  |  DBMS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128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TABLE 3: RECRUITER_PROFILES  (Strong Entity)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11612880" cy="34747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490472"/>
            <a:ext cx="302574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Attribute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4661" y="1490472"/>
            <a:ext cx="24451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9495" y="1490472"/>
            <a:ext cx="581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92224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2880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6F1E"/>
                </a:solidFill>
              </a:rPr>
              <a:t>[PK]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5517" y="182880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0351" y="182880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PRIMARY KEY,  NOT NULL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9797" y="17922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64631" y="17922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084831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2140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user_id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5517" y="212140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0351" y="212140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USERS(id),  ON DELETE CASCADE,  UNIQUE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9797" y="2084831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4631" y="2084831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377440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41401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full_name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5517" y="241401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VARCHAR(100)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0351" y="241401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9797" y="23774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4631" y="23774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670048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706624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company_name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5517" y="2706624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VARCHAR(150)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0351" y="2706624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09797" y="267004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64631" y="267004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2962656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99923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industry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5517" y="299923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VARCHAR(100)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0351" y="299923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9797" y="296265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64631" y="296265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3255264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29184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location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55517" y="329184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VARCHAR(100)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0351" y="329184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09797" y="325526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64631" y="325526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547872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58444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website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55517" y="358444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VARCHAR(200)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0351" y="358444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09797" y="354787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64631" y="354787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3840480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387705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profile_completion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55517" y="387705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10351" y="387705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40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09797" y="384048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64631" y="384048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4320" y="3767328"/>
            <a:ext cx="116128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803904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TABLE 4: JOBS  (Strong Entity)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133088"/>
            <a:ext cx="11612880" cy="34747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9184" y="4178808"/>
            <a:ext cx="302574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Attribute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64661" y="4178808"/>
            <a:ext cx="24451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 Type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19495" y="4178808"/>
            <a:ext cx="581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480560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51713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6F1E"/>
                </a:solidFill>
              </a:rPr>
              <a:t>[PK] 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55517" y="451713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10351" y="451713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PRIMARY KEY,  NOT NULL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09797" y="448056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64631" y="448056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4773168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" y="4809744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recruiter_id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55517" y="4809744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10351" y="4809744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USERS(id),  ON DELETE CASCADE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09797" y="477316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64631" y="477316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4320" y="5065776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510235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recruiter_profile_id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55517" y="510235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10351" y="510235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RECRUITER_PROFILES(id)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09797" y="506577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64631" y="506577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4320" y="5358384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" y="539496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title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55517" y="539496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VARCHAR(150)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10351" y="539496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09797" y="535838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964631" y="535838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4320" y="5650992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0040" y="568756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company_name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5517" y="568756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VARCHAR(150)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10351" y="568756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09797" y="565099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964631" y="565099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74320" y="5943600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" y="598017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employment_type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55517" y="598017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VARCHAR(30)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10351" y="598017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NULL,  CHECK(Full-time/Part-time/Internship/Contract/Freelance)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09797" y="594360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964631" y="594360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4320" y="6236208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0040" y="6272784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work_mode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55517" y="6272784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VARCHAR(20)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10351" y="6272784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NULL,  CHECK(On-site/Hybrid/Remote)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09797" y="623620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964631" y="623620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74320" y="6528816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20040" y="656539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salary_min / max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55517" y="656539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10351" y="656539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NULL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409797" y="652881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964631" y="652881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74320" y="6821424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20040" y="685800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status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455517" y="685800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VARCHAR(20)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010351" y="685800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'Draft',  CHECK(Draft/Published/Closed)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409797" y="68214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964631" y="68214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74320" y="7114032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0040" y="715060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deadline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455517" y="715060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TEXT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0351" y="715060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NULL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09797" y="711403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964631" y="711403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Relational Schema —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8"/>
                </a:solidFill>
              </a:rPr>
              <a:t>Phase 2: Candidate Resumes  |  Phase 4: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8"/>
                </a:solidFill>
              </a:rPr>
              <a:t>Resumio — AI Resume Screening &amp; Recruitment Portal  |  DBMS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128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TABLE 5: CANDIDATE_RESUMES  (Weak Entity (double rectangle))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11612880" cy="34747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490472"/>
            <a:ext cx="302574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Attribute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4661" y="1490472"/>
            <a:ext cx="24451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9495" y="1490472"/>
            <a:ext cx="581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92224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2880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6F1E"/>
                </a:solidFill>
              </a:rPr>
              <a:t>[PK]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5517" y="182880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0351" y="182880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PRIMARY KEY,  NOT NULL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9797" y="17922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64631" y="17922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084831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2140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candidate_profile_id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5517" y="212140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0351" y="212140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CANDIDATE_PROFILES(id),  ON DELETE CASCADE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9797" y="2084831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4631" y="2084831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377440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41401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original_filename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5517" y="241401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VARCHAR(255)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0351" y="241401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9797" y="23774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4631" y="23774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670048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706624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stored_filename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5517" y="2706624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VARCHAR(255)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0351" y="2706624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09797" y="267004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64631" y="267004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2962656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99923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file_type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5517" y="299923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VARCHAR(10)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0351" y="299923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9797" y="296265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64631" y="296265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3255264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29184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file_size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55517" y="329184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0351" y="329184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09797" y="325526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64631" y="325526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547872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58444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is_active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55517" y="358444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0351" y="358444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09797" y="354787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64631" y="354787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3438144"/>
            <a:ext cx="116128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34747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TABLE 6: APPLICATIONS  (Relationship Entity (resolves M:N between Candidate &amp; Job))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803904"/>
            <a:ext cx="11612880" cy="34747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" y="3849624"/>
            <a:ext cx="302574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Attribute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64661" y="3849624"/>
            <a:ext cx="24451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 Type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19495" y="3849624"/>
            <a:ext cx="581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151376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418795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6F1E"/>
                </a:solidFill>
              </a:rPr>
              <a:t>[PK] 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5517" y="418795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10351" y="418795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PRIMARY KEY,  NOT NULL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09797" y="415137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64631" y="415137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4320" y="4443984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48056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candidate_id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55517" y="448056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10351" y="448056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USERS(id),  ON DELETE CASCADE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09797" y="444398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64631" y="444398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4736592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" y="477316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candidate_profile_id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55517" y="477316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10351" y="477316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CANDIDATE_PROFILES(id)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09797" y="473659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64631" y="473659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4320" y="5029200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506577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job_id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55517" y="506577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10351" y="506577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JOBS(id),  ON DELETE CASCADE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09797" y="502920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64631" y="502920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4320" y="5321808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" y="5358384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resume_id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55517" y="5358384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10351" y="5358384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CANDIDATE_RESUMES(id)  [snapshot — no cascade]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09797" y="532180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964631" y="532180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4320" y="5614416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0040" y="565099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cover_letter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5517" y="565099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TEXT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10351" y="565099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NULL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09797" y="561441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964631" y="561441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74320" y="5907024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" y="594360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status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55517" y="594360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VARCHAR(30)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10351" y="594360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'Applied',  CHECK(Applied/Under Review/Shortlisted/Rejected/Withdrawn)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09797" y="59070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964631" y="59070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4320" y="6199632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0040" y="623620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applied_at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55517" y="623620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TEXT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10351" y="623620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NULL,  DEFAULT datetime('now')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09797" y="619963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964631" y="619963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20040" y="652881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55517" y="652881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UNIQUE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10351" y="652881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UNIQUE(candidate_id, job_id) — prevents duplicate applications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409797" y="64922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964631" y="64922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Relational Schema — 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8"/>
                </a:solidFill>
              </a:rPr>
              <a:t>Phase 7: Interviews &amp; Notifications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8"/>
                </a:solidFill>
              </a:rPr>
              <a:t>Resumio — AI Resume Screening &amp; Recruitment Portal  |  DBMS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128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TABLE 7: INTERVIEWS  (Strong Entity)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11612880" cy="34747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490472"/>
            <a:ext cx="302574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Attribute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4661" y="1490472"/>
            <a:ext cx="24451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9495" y="1490472"/>
            <a:ext cx="581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92224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2880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6F1E"/>
                </a:solidFill>
              </a:rPr>
              <a:t>[PK]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5517" y="182880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0351" y="182880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PRIMARY KEY,  NOT NULL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9797" y="17922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64631" y="17922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084831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2140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application_id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5517" y="212140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0351" y="212140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APPLICATIONS(id),  ON DELETE CASCADE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9797" y="2084831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4631" y="2084831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377440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41401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candidate_id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5517" y="241401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0351" y="241401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USERS(id),  ON DELETE CASCADE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9797" y="23774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4631" y="23774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670048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706624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recruiter_id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5517" y="2706624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0351" y="2706624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USERS(id),  ON DELETE CASCADE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09797" y="267004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64631" y="267004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2962656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99923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job_id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5517" y="299923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0351" y="299923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JOBS(id),  ON DELETE CASCADE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9797" y="296265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64631" y="296265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3255264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29184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interview_type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55517" y="329184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0351" y="329184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NULL,  CHECK(Video/Phone/In Person)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09797" y="325526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64631" y="325526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547872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58444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scheduled_at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55517" y="358444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0351" y="358444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09797" y="354787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64631" y="354787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3840480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387705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duration_minutes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55517" y="387705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10351" y="387705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45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09797" y="384048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64631" y="384048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4320" y="4133087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4169663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meeting_url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5517" y="4169663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VARCHAR(300)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10351" y="4169663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09797" y="4133087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64631" y="4133087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4320" y="4425696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46227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status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55517" y="446227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VARCHAR(30)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10351" y="446227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'Scheduled',  CHECK(Scheduled/Rescheduled/Completed/Cancelled)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09797" y="442569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64631" y="442569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4187952"/>
            <a:ext cx="116128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42245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TABLE 8: NOTIFICATIONS  (Strong Entity)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553712"/>
            <a:ext cx="11612880" cy="34747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9184" y="4599432"/>
            <a:ext cx="302574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Attribute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64661" y="4599432"/>
            <a:ext cx="24451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 Type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19495" y="4599432"/>
            <a:ext cx="581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4901184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493776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6F1E"/>
                </a:solidFill>
              </a:rPr>
              <a:t>[PK] 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55517" y="493776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10351" y="493776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PRIMARY KEY,  NOT NULL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09797" y="490118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64631" y="490118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4320" y="5193792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" y="523036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user_id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55517" y="523036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10351" y="523036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USERS(id),  ON DELETE CASCADE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09797" y="519379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964631" y="519379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4320" y="5486400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0040" y="552297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type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5517" y="552297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VARCHAR(50)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10351" y="552297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NULL,  CHECK(application_status/interview_scheduled/...)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09797" y="548640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964631" y="548640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74320" y="5779008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" y="5815584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title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55517" y="5815584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VARCHAR(200)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10351" y="5815584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09797" y="577900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964631" y="577900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4320" y="6071616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0040" y="610819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message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55517" y="610819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TEXT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10351" y="610819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09797" y="607161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964631" y="607161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74320" y="6364224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20040" y="640080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related_entity_id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55517" y="640080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10351" y="640080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NULL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409797" y="63642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964631" y="63642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74320" y="6656832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20040" y="669340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is_read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455517" y="669340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010351" y="669340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0,  CHECK(0/1)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409797" y="665683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964631" y="665683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74320" y="6949440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0040" y="698601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created_at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455517" y="698601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TEXT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0351" y="698601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NULL,  DEFAULT datetime('now')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09797" y="69494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964631" y="69494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Relational Schema — 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8"/>
                </a:solidFill>
              </a:rPr>
              <a:t>Phases 5–6: AI Parsing, Screening &amp; Matching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8"/>
                </a:solidFill>
              </a:rPr>
              <a:t>Resumio — AI Resume Screening &amp; Recruitment Portal  |  DBMS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128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TABLE 9: RESUME_PARSED_DATA  (1:1 with CANDIDATE_RESUMES — AI parsed extraction)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11612880" cy="34747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490472"/>
            <a:ext cx="302574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Attribute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4661" y="1490472"/>
            <a:ext cx="24451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9495" y="1490472"/>
            <a:ext cx="581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92224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2880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6F1E"/>
                </a:solidFill>
              </a:rPr>
              <a:t>[PK]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5517" y="182880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0351" y="182880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PRIMARY KEY,  NOT NULL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9797" y="17922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64631" y="179222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084831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2140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resume_id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5517" y="212140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0351" y="212140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CANDIDATE_RESUMES(id),  UNIQUE,  CASCADE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9797" y="2084831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4631" y="2084831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377440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41401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candidate_id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5517" y="241401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0351" y="241401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USERS(id),  CASCADE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9797" y="23774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4631" y="237744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670048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706624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file_hash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5517" y="2706624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VARCHAR(64)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0351" y="2706624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NOT NULL  (SHA-256 for duplicate detection)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09797" y="267004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64631" y="267004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2962656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99923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5517" y="299923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VARCHAR(20)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0351" y="299923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'Not Processed'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9797" y="296265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64631" y="296265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3255264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29184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raw_text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55517" y="329184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0351" y="329184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09797" y="325526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64631" y="325526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547872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58444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skills_json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55517" y="358444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0351" y="358444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'[]'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09797" y="354787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64631" y="354787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3840480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387705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education_json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55517" y="387705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TEXT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10351" y="387705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'[]'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09797" y="384048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64631" y="384048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4320" y="4133087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4169663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experience_json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5517" y="4169663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10351" y="4169663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'[]'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09797" y="4133087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64631" y="4133087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4320" y="4005072"/>
            <a:ext cx="116128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404164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TABLE 10: RESUME_JOB_MATCHES  (AI Scoring Entity — resolves M:N between Resume &amp; Job)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370832"/>
            <a:ext cx="11612880" cy="34747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" y="4416552"/>
            <a:ext cx="302574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Attribute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64661" y="4416552"/>
            <a:ext cx="24451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 Type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19495" y="4416552"/>
            <a:ext cx="581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4718304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" y="475488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6F1E"/>
                </a:solidFill>
              </a:rPr>
              <a:t>[PK] 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55517" y="475488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10351" y="475488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PRIMARY KEY,  NOT NULL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09797" y="471830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64631" y="471830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4320" y="5010912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504748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resume_id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55517" y="504748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10351" y="504748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CANDIDATE_RESUMES(id),  CASCADE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09797" y="501091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64631" y="501091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4320" y="5303520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" y="534009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job_id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55517" y="534009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10351" y="534009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JOBS(id),  CASCADE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09797" y="530352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964631" y="530352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4320" y="5596128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0040" y="5632704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[FK] application_id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5517" y="5632704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CHAR(36)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10351" y="5632704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6C1"/>
                </a:solidFill>
              </a:rPr>
              <a:t>FK -&gt; APPLICATIONS(id),  CASCADE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09797" y="559612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964631" y="559612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74320" y="5888736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" y="5925312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match_score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55517" y="5925312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10351" y="5925312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0  (0-100 composite score)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09797" y="588873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964631" y="5888736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4320" y="6181344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0040" y="6217920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required_skills_score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55517" y="6217920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REAL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10351" y="6217920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0.0  (40% weight)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09797" y="618134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964631" y="6181344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74320" y="6473952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20040" y="6510528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preferred_skills_score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55517" y="6510528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REAL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10351" y="6510528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0.0  (20% weight)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409797" y="647395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964631" y="6473952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74320" y="6766560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20040" y="6803136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experience_score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455517" y="6803136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REAL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010351" y="6803136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0.0  (25% weight)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409797" y="676656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964631" y="6766560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74320" y="7059168"/>
            <a:ext cx="11612880" cy="292608"/>
          </a:xfrm>
          <a:prstGeom prst="rect">
            <a:avLst/>
          </a:prstGeom>
          <a:solidFill>
            <a:srgbClr val="EBF5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0040" y="7095744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qualification_score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455517" y="7095744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REAL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0351" y="7095744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DEFAULT 0.0  (15% weight)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09797" y="705916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964631" y="7059168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74320" y="7351775"/>
            <a:ext cx="116128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" y="7388351"/>
            <a:ext cx="304403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    —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455517" y="7388351"/>
            <a:ext cx="24633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UNIQUE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010351" y="7388351"/>
            <a:ext cx="5831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UNIQUE(resume_id, job_id, algorithm_version)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409797" y="7351775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964631" y="7351775"/>
            <a:ext cx="9144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Database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8"/>
                </a:solidFill>
              </a:rPr>
              <a:t>Demonstrating 1NF, 2NF, and 3NF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8"/>
                </a:solidFill>
              </a:rPr>
              <a:t>Resumio — AI Resume Screening &amp; Recruitment Portal  |  DBMS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3749039" cy="5486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3749039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106424"/>
            <a:ext cx="3520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1NF — First Normal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627632"/>
            <a:ext cx="3520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Every table has a PRIMARY KEY (id, CHAR 36 UUID).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All attributes contain ATOMIC values only.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No repeating groups or arrays within a column.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Multi-valued attributes decomposed into separate tables: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- Skills -&gt; candidate_skills  (not comma list in profiles)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- Education -&gt; candidate_education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- Job required skills -&gt; job_required_skills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078992"/>
            <a:ext cx="3749039" cy="5486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672" y="1078992"/>
            <a:ext cx="3749039" cy="43891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106424"/>
            <a:ext cx="3520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2NF — Second Normal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627632"/>
            <a:ext cx="3520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All 1NF conditions satisfied.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All PKs are single-column surrogate UUIDs (CHAR 36).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No composite primary keys exist in any table.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Every non-key attribute is fully functionally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dependent on the complete primary key.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No partial dependencies present in any 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078992"/>
            <a:ext cx="3749039" cy="5486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078992"/>
            <a:ext cx="3749039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106424"/>
            <a:ext cx="3520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3NF — Third Normal 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1627632"/>
            <a:ext cx="3520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All 2NF conditions satisfied.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No transitive dependencies present.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Company data is stored in recruiter_profiles,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NOT duplicated inside every jobs record.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Candidate details referenced via FK, not copied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into applications or resume_job_matches.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Match scores live in resume_job_matches only.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8"/>
                </a:solidFill>
              </a:rPr>
              <a:t>What Resumio provides to each user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8"/>
                </a:solidFill>
              </a:rPr>
              <a:t>Resumio — AI Resume Screening &amp; Recruitment Portal  |  DBMS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557784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5577840" cy="3840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97280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CANDIDATE PORTAL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554480"/>
            <a:ext cx="5440680" cy="530352"/>
          </a:xfrm>
          <a:prstGeom prst="rect">
            <a:avLst/>
          </a:prstGeom>
          <a:solidFill>
            <a:srgbClr val="DBEA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Build profile (education, skills, experience, projects, certifications)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139696"/>
            <a:ext cx="5440680" cy="530352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311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Upload resumes (PDF / DOCX), browse and apply to jobs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724912"/>
            <a:ext cx="5440680" cy="530352"/>
          </a:xfrm>
          <a:prstGeom prst="rect">
            <a:avLst/>
          </a:prstGeom>
          <a:solidFill>
            <a:srgbClr val="DBEA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8163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View AI match score (0-100%) with skill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3310128"/>
            <a:ext cx="5440680" cy="530352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01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Skill gap analysis — what skills are missing for the job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895344"/>
            <a:ext cx="5440680" cy="530352"/>
          </a:xfrm>
          <a:prstGeom prst="rect">
            <a:avLst/>
          </a:prstGeom>
          <a:solidFill>
            <a:srgbClr val="DBEA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98678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Track application status pipeline with full audit timeline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4480560"/>
            <a:ext cx="5440680" cy="530352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72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View interview schedule, type, meeting link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5065776"/>
            <a:ext cx="5440680" cy="530352"/>
          </a:xfrm>
          <a:prstGeom prst="rect">
            <a:avLst/>
          </a:prstGeom>
          <a:solidFill>
            <a:srgbClr val="DBEA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15721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In-app notifications for status changes and interviews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5650992"/>
            <a:ext cx="5440680" cy="530352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7424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Resume improvement suggestions (AI-generated section feedback)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078992"/>
            <a:ext cx="57150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078992"/>
            <a:ext cx="57150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097280"/>
            <a:ext cx="5486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RECRUITER PORTAL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1554480"/>
            <a:ext cx="5577840" cy="530352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64592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Post, edit, publish and close job listings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8" y="2139696"/>
            <a:ext cx="5577840" cy="530352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231136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View applicants ranked by AI match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8" y="2724912"/>
            <a:ext cx="5577840" cy="530352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81635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Manage application pipeline: Applied -&gt; Shortlisted -&gt; Rejected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3310128"/>
            <a:ext cx="5577840" cy="530352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40156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Schedule video, phone, or in-person interviews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6208" y="3895344"/>
            <a:ext cx="5577840" cy="530352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986783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Natural language candidate search (AI-powered, Phase 8)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8" y="4480560"/>
            <a:ext cx="5577840" cy="530352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57200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Auto-generate interview questions based on job + candidate resume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5065776"/>
            <a:ext cx="5577840" cy="530352"/>
          </a:xfrm>
          <a:prstGeom prst="rect">
            <a:avLst/>
          </a:prstGeom>
          <a:solidFill>
            <a:srgbClr val="F2F2F2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5157216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Recruitment analytics dashboard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6208" y="5650992"/>
            <a:ext cx="5577840" cy="530352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574243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➡  Duplicate resume detection (SHA-256 + text similarity)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Referential Integrity &amp;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8"/>
                </a:solidFill>
              </a:rPr>
              <a:t>FK enforcement, cascade rules, and ACID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8"/>
                </a:solidFill>
              </a:rPr>
              <a:t>Resumio — AI Resume Screening &amp; Recruitment Portal  |  DBMS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34290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34290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1155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FK Enforcement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499616"/>
            <a:ext cx="3200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PRAGMA foreign_keys = ON executed on every DB connection. All FK relationships are actively enforced at database level.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99232"/>
            <a:ext cx="34290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999232"/>
            <a:ext cx="3429000" cy="347472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0358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Cascade Delete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19856"/>
            <a:ext cx="3200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Deleting a USER cascades through: candidate_profiles -&gt; education/skills/resumes, AND recruiter_profiles -&gt; jobs -&gt; applications -&gt; interviews.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34290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919472"/>
            <a:ext cx="342900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9560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Immutable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5340096"/>
            <a:ext cx="3200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applications.resume_id has NO ON DELETE CASCADE — applications retain the exact resume snapshot even if candidate deletes that resume later.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1078992"/>
            <a:ext cx="34290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1920" y="1078992"/>
            <a:ext cx="3429000" cy="347472"/>
          </a:xfrm>
          <a:prstGeom prst="rect">
            <a:avLst/>
          </a:prstGeom>
          <a:solidFill>
            <a:srgbClr val="CA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11155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648" y="1499616"/>
            <a:ext cx="3200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application_status_history and interview_status_history are append-only. Every change is logged with changed_by user ID, timestamp, and note.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2999232"/>
            <a:ext cx="34290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31920" y="2999232"/>
            <a:ext cx="3429000" cy="34747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30358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Unique Constraint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1648" y="3419856"/>
            <a:ext cx="3200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UNIQUE(candidate_id, job_id) on applications prevents duplicate applications at database level, not just application layer.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4919472"/>
            <a:ext cx="34290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31920" y="4919472"/>
            <a:ext cx="342900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41648" y="49560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Startup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1648" y="5340096"/>
            <a:ext cx="3200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verifyDatabaseIntegrity() runs on every server start — PRAGMA foreign_key_check + orphan record counts. Result: 0 violations.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1078992"/>
            <a:ext cx="4297680" cy="5532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89520" y="1078992"/>
            <a:ext cx="42976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1097280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ACID Compliance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62672" y="1554480"/>
            <a:ext cx="4160520" cy="10515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160934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 — Atomicity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198424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Multi-step operations (apply + log status + notify) roll back if any step fails.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62672" y="2743200"/>
            <a:ext cx="4160520" cy="1051560"/>
          </a:xfrm>
          <a:prstGeom prst="rect">
            <a:avLst/>
          </a:prstGeom>
          <a:solidFill>
            <a:srgbClr val="DBEA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279806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C — Consistency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17296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CHECK constraints, UNIQUE constraints, and FK enforcement maintain valid state.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62672" y="3931920"/>
            <a:ext cx="4160520" cy="10515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3986783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I — Isolation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36168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SQLite WAL mode — concurrent reads do not block writes.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62672" y="5120640"/>
            <a:ext cx="4160520" cy="1051560"/>
          </a:xfrm>
          <a:prstGeom prst="rect">
            <a:avLst/>
          </a:prstGeom>
          <a:solidFill>
            <a:srgbClr val="DBEAF8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517550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D — Durability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555040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All committed data persisted to resumio.db — survives restarts.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BEAF8"/>
                </a:solidFill>
              </a:rPr>
              <a:t>RESUMIO — AI Resume Screening &amp; Recruitment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BEAF8"/>
                </a:solidFill>
              </a:rPr>
              <a:t>DBMS Project  |  M. Sundhip Manhooj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2651760" cy="2286000"/>
          </a:xfrm>
          <a:prstGeom prst="rect">
            <a:avLst/>
          </a:prstGeom>
          <a:solidFill>
            <a:srgbClr val="F2F2F2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265176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26 Relational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Fully designed in 3rd Normal Form (3NF)
across 8 development phases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377440"/>
            <a:ext cx="2651760" cy="2286000"/>
          </a:xfrm>
          <a:prstGeom prst="rect">
            <a:avLst/>
          </a:prstGeom>
          <a:solidFill>
            <a:srgbClr val="F2F2F2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377440"/>
            <a:ext cx="265176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404872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100% FK Integrity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34640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Zero FK violations
All foreign keys enforced at DB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377440"/>
            <a:ext cx="2651760" cy="2286000"/>
          </a:xfrm>
          <a:prstGeom prst="rect">
            <a:avLst/>
          </a:prstGeom>
          <a:solidFill>
            <a:srgbClr val="F2F2F2"/>
          </a:solidFill>
          <a:ln w="19050">
            <a:solidFill>
              <a:srgbClr val="275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377440"/>
            <a:ext cx="2651760" cy="384048"/>
          </a:xfrm>
          <a:prstGeom prst="rect">
            <a:avLst/>
          </a:prstGeom>
          <a:solidFill>
            <a:srgbClr val="27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404872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AI-Powered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834640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Deterministic 0-100% match score
Skill gap analysis + resume improvement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377440"/>
            <a:ext cx="2651760" cy="2286000"/>
          </a:xfrm>
          <a:prstGeom prst="rect">
            <a:avLst/>
          </a:prstGeom>
          <a:solidFill>
            <a:srgbClr val="F2F2F2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2377440"/>
            <a:ext cx="2651760" cy="3840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2404872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Full-Stack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834640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React 19 + Express + SQLite
Production-ready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3A5F"/>
                </a:solidFill>
              </a:rPr>
              <a:t>GitHub Repository:  github.com/sundhip/Resumio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03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86C1"/>
                </a:solidFill>
              </a:rPr>
              <a:t>github.com/sundhip/Resumio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336792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8"/>
                </a:solidFill>
              </a:rPr>
              <a:t>Resumio — AI Resume Screening &amp; Recruitment Portal  |  DBMS Project  |  M. Sundhip Manhooj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