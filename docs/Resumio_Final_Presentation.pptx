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88952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201168" cy="265176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87784" y="2194560"/>
            <a:ext cx="201168" cy="265176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67712"/>
            <a:ext cx="1124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1B2A4A"/>
                </a:solidFill>
              </a:rPr>
              <a:t>RESUMIO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37560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F6FB8"/>
                </a:solidFill>
              </a:rPr>
              <a:t>AI Resume Screening &amp; Recruitment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136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77BB"/>
                </a:solidFill>
              </a:rPr>
              <a:t>DBMS Project  —  A Full-Stack Web Application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983480"/>
            <a:ext cx="2423160" cy="1005840"/>
          </a:xfrm>
          <a:prstGeom prst="rect">
            <a:avLst/>
          </a:prstGeom>
          <a:solidFill>
            <a:srgbClr val="223A62"/>
          </a:solidFill>
          <a:ln w="1524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56632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Full-Stack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04688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6EAF8"/>
                </a:solidFill>
              </a:rPr>
              <a:t>Web Application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4983480"/>
            <a:ext cx="2423160" cy="1005840"/>
          </a:xfrm>
          <a:prstGeom prst="rect">
            <a:avLst/>
          </a:prstGeom>
          <a:solidFill>
            <a:srgbClr val="223A62"/>
          </a:solidFill>
          <a:ln w="1524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5056632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3 User Roles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5504688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6EAF8"/>
                </a:solidFill>
              </a:rPr>
              <a:t>Candidate · Recruiter · Admin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983480"/>
            <a:ext cx="2423160" cy="1005840"/>
          </a:xfrm>
          <a:prstGeom prst="rect">
            <a:avLst/>
          </a:prstGeom>
          <a:solidFill>
            <a:srgbClr val="223A62"/>
          </a:solidFill>
          <a:ln w="1524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5056632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AI-Powered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5504688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6EAF8"/>
                </a:solidFill>
              </a:rPr>
              <a:t>Resume Matching &amp; 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15400" y="4983480"/>
            <a:ext cx="2423160" cy="1005840"/>
          </a:xfrm>
          <a:prstGeom prst="rect">
            <a:avLst/>
          </a:prstGeom>
          <a:solidFill>
            <a:srgbClr val="223A62"/>
          </a:solidFill>
          <a:ln w="1524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5056632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SQLite 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5504688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6EAF8"/>
                </a:solidFill>
              </a:rPr>
              <a:t>26 Tables · 3NF Schema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6EAF8"/>
                </a:solidFill>
              </a:rPr>
              <a:t>Presented by: M. Sundhip Manhooj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6EAF8"/>
                </a:solidFill>
              </a:rPr>
              <a:t>Resumio  |  DBMS Project  |  M. Sundhip Manhooj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is Resumio?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8368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EAF8"/>
                </a:solidFill>
              </a:rPr>
              <a:t>A smart recruitment platform that connects candidates and recruiters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78992"/>
            <a:ext cx="11521440" cy="932688"/>
          </a:xfrm>
          <a:prstGeom prst="rect">
            <a:avLst/>
          </a:prstGeom>
          <a:solidFill>
            <a:srgbClr val="D6EAF8"/>
          </a:solidFill>
          <a:ln w="1270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43000"/>
            <a:ext cx="11109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1B2A4A"/>
                </a:solidFill>
              </a:rPr>
              <a:t>"Resumio automates the entire hiring process — from job posting to candidate selection — using Artificial Intelligence to screen resumes, score candidates, and generate insights for both recruiters and job seekers."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103120"/>
            <a:ext cx="3767328" cy="4343400"/>
          </a:xfrm>
          <a:prstGeom prst="rect">
            <a:avLst/>
          </a:prstGeom>
          <a:solidFill>
            <a:srgbClr val="D5F5E3"/>
          </a:solidFill>
          <a:ln w="12700">
            <a:solidFill>
              <a:srgbClr val="156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103120"/>
            <a:ext cx="3767328" cy="384048"/>
          </a:xfrm>
          <a:prstGeom prst="rect">
            <a:avLst/>
          </a:prstGeom>
          <a:solidFill>
            <a:srgbClr val="156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213055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For CANDIDATES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578608"/>
            <a:ext cx="3474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1A"/>
                </a:solidFill>
              </a:rPr>
              <a:t>  Create a complete professional profile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  Upload resume (PDF or DOCX)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  Browse and search job listings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  Apply with one click + cover letter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  Get AI match score for every job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  See skill gap: what skills are missing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  Track application status in real-time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  View interview schedule and details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  Get AI resume improvement feedback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  Receive in-app notifications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2103120"/>
            <a:ext cx="3767328" cy="4343400"/>
          </a:xfrm>
          <a:prstGeom prst="rect">
            <a:avLst/>
          </a:prstGeom>
          <a:solidFill>
            <a:srgbClr val="D6EAF8"/>
          </a:solidFill>
          <a:ln w="1270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2103120"/>
            <a:ext cx="3767328" cy="384048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7407" y="213055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For RECRUITERS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1" y="2578608"/>
            <a:ext cx="3474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1A"/>
                </a:solidFill>
              </a:rPr>
              <a:t>  Register with company information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  Post, edit and manage job listings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  View all applicants ranked by AI score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  Move candidates through hiring pipeline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  Shortlist or reject with one click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  Schedule Video / Phone / In-Person interviews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  Auto-notify candidates on every update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  Search candidates using natural language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  Auto-generate interview questions (AI)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  View recruitment analytics dashboard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19" y="2103120"/>
            <a:ext cx="3767328" cy="4343400"/>
          </a:xfrm>
          <a:prstGeom prst="rect">
            <a:avLst/>
          </a:prstGeom>
          <a:solidFill>
            <a:srgbClr val="F2F4F8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19" y="2103120"/>
            <a:ext cx="3767328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7" y="213055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For 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2578608"/>
            <a:ext cx="3474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1A"/>
                </a:solidFill>
              </a:rPr>
              <a:t>  View all users on the platform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  Activate or deactivate accounts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  Monitor platform-wide statistics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  Oversee all jobs and applications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  Ensure platform security and integrity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6EAF8"/>
                </a:solidFill>
              </a:rPr>
              <a:t>Resumio  |  DBMS Project  |  M. Sundhip Manhooj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8368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EAF8"/>
                </a:solidFill>
              </a:rPr>
              <a:t>Why we built Resumio — real problems in today's recruitment process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97280"/>
            <a:ext cx="5669280" cy="1627632"/>
          </a:xfrm>
          <a:prstGeom prst="rect">
            <a:avLst/>
          </a:prstGeom>
          <a:solidFill>
            <a:srgbClr val="FDEDEC"/>
          </a:solidFill>
          <a:ln w="12700">
            <a:solidFill>
              <a:srgbClr val="A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64008" cy="1627632"/>
          </a:xfrm>
          <a:prstGeom prst="rect">
            <a:avLst/>
          </a:prstGeom>
          <a:solidFill>
            <a:srgbClr val="A0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88720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1818"/>
                </a:solidFill>
              </a:rPr>
              <a:t>Hiring Takes Too Long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45919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Recruiters receive hundreds of resumes for a single job. Reading each one manually takes days. By the time good candidates are identified, they may have already accepted other offers.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880360"/>
            <a:ext cx="5669280" cy="1627632"/>
          </a:xfrm>
          <a:prstGeom prst="rect">
            <a:avLst/>
          </a:prstGeom>
          <a:solidFill>
            <a:srgbClr val="FDEBD7"/>
          </a:solidFill>
          <a:ln w="12700">
            <a:solidFill>
              <a:srgbClr val="BF55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880360"/>
            <a:ext cx="64008" cy="1627632"/>
          </a:xfrm>
          <a:prstGeom prst="rect">
            <a:avLst/>
          </a:prstGeom>
          <a:solidFill>
            <a:srgbClr val="BF5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971800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550A"/>
                </a:solidFill>
              </a:rPr>
              <a:t>No Way to Compare Candidates Fairly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29000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Without a scoring system, recruiters rely on gut feeling. Two different HR managers reviewing the same candidate will give completely different results — inconsistent and biased.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663440"/>
            <a:ext cx="5669280" cy="1627632"/>
          </a:xfrm>
          <a:prstGeom prst="rect">
            <a:avLst/>
          </a:prstGeom>
          <a:solidFill>
            <a:srgbClr val="F3E5F5"/>
          </a:solidFill>
          <a:ln w="12700">
            <a:solidFill>
              <a:srgbClr val="6C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4663440"/>
            <a:ext cx="64008" cy="1627632"/>
          </a:xfrm>
          <a:prstGeom prst="rect">
            <a:avLst/>
          </a:prstGeom>
          <a:solidFill>
            <a:srgbClr val="6C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754879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58E"/>
                </a:solidFill>
              </a:rPr>
              <a:t>Candidates Don't Know What's Missing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212079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When a candidate gets rejected, they receive no feedback. They don't know which skills they lack or how far they were from the job requirements. Improvement is impossible.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097280"/>
            <a:ext cx="5669280" cy="1627632"/>
          </a:xfrm>
          <a:prstGeom prst="rect">
            <a:avLst/>
          </a:prstGeom>
          <a:solidFill>
            <a:srgbClr val="D6EAF8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097280"/>
            <a:ext cx="64008" cy="16276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188720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Everything is Scattered Across Different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645919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Companies use LinkedIn to post jobs, email to collect resumes, Excel to track applications, and Google Calendar for interviews — no single unified system.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880360"/>
            <a:ext cx="5669280" cy="1627632"/>
          </a:xfrm>
          <a:prstGeom prst="rect">
            <a:avLst/>
          </a:prstGeom>
          <a:solidFill>
            <a:srgbClr val="D6EAF8"/>
          </a:solidFill>
          <a:ln w="1270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2880360"/>
            <a:ext cx="64008" cy="1627632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971800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6FB8"/>
                </a:solidFill>
              </a:rPr>
              <a:t>No Skill Matching — Just Keyword 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429000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Most tools just search for keywords in resumes. They can't weigh required vs preferred skills, consider experience level, or factor in qualification level automatically.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4663440"/>
            <a:ext cx="5669280" cy="1627632"/>
          </a:xfrm>
          <a:prstGeom prst="rect">
            <a:avLst/>
          </a:prstGeom>
          <a:solidFill>
            <a:srgbClr val="D5F5E3"/>
          </a:solidFill>
          <a:ln w="12700">
            <a:solidFill>
              <a:srgbClr val="156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4663440"/>
            <a:ext cx="64008" cy="1627632"/>
          </a:xfrm>
          <a:prstGeom prst="rect">
            <a:avLst/>
          </a:prstGeom>
          <a:solidFill>
            <a:srgbClr val="156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754879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E3C"/>
                </a:solidFill>
              </a:rPr>
              <a:t>Resume Fraud Goes Undetected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12079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Candidates submit the same resume to multiple jobs with minor edits, or copy other people's resumes. Without duplicate detection, this goes completely unnoticed by recruiters.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6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56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6EAF8"/>
                </a:solidFill>
              </a:rPr>
              <a:t>Resumio  |  DBMS Project  |  M. Sundhip Manhooj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Our Solution — Resumio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8368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EAF8"/>
                </a:solidFill>
              </a:rPr>
              <a:t>How each problem is solved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97280"/>
            <a:ext cx="5669280" cy="1627632"/>
          </a:xfrm>
          <a:prstGeom prst="rect">
            <a:avLst/>
          </a:prstGeom>
          <a:solidFill>
            <a:srgbClr val="D5F5E3"/>
          </a:solidFill>
          <a:ln w="12700">
            <a:solidFill>
              <a:srgbClr val="156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5669280" cy="384048"/>
          </a:xfrm>
          <a:prstGeom prst="rect">
            <a:avLst/>
          </a:prstGeom>
          <a:solidFill>
            <a:srgbClr val="156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" y="1152144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Screening — Instant, Automatic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" y="1554480"/>
            <a:ext cx="53949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The moment a candidate applies, Resumio automatically reads their resume, extracts all skills, education, and experience, and produces a match score within seconds. No manual reading needed.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880360"/>
            <a:ext cx="5669280" cy="1627632"/>
          </a:xfrm>
          <a:prstGeom prst="rect">
            <a:avLst/>
          </a:prstGeom>
          <a:solidFill>
            <a:srgbClr val="D6EAF8"/>
          </a:solidFill>
          <a:ln w="1270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880360"/>
            <a:ext cx="5669280" cy="384048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" y="2935224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Objective 0-100% Match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" y="3337560"/>
            <a:ext cx="53949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Every candidate gets a score calculated from: Required Skills (40%) + Preferred Skills (20%) + Years of Experience (25%) + Qualification Level (15%). Same formula for everyone — zero bias.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663440"/>
            <a:ext cx="5669280" cy="1627632"/>
          </a:xfrm>
          <a:prstGeom prst="rect">
            <a:avLst/>
          </a:prstGeom>
          <a:solidFill>
            <a:srgbClr val="F3E5F5"/>
          </a:solidFill>
          <a:ln w="12700">
            <a:solidFill>
              <a:srgbClr val="6C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4663440"/>
            <a:ext cx="5669280" cy="384048"/>
          </a:xfrm>
          <a:prstGeom prst="rect">
            <a:avLst/>
          </a:prstGeom>
          <a:solidFill>
            <a:srgbClr val="6C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4718303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Skill Gap Analysis for Candidates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" y="5120640"/>
            <a:ext cx="53949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After applying, candidates see exactly which required skills they are missing, ranked by priority. They also get AI-generated recommendations on what to learn next.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097280"/>
            <a:ext cx="5669280" cy="1627632"/>
          </a:xfrm>
          <a:prstGeom prst="rect">
            <a:avLst/>
          </a:prstGeom>
          <a:solidFill>
            <a:srgbClr val="D6EAF8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097280"/>
            <a:ext cx="566928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5" y="1152144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One Unified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5" y="1554480"/>
            <a:ext cx="53949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Job posting, resume collection, AI screening, application tracking, interview scheduling, and notifications — all in one system. No switching between tools.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880360"/>
            <a:ext cx="5669280" cy="1627632"/>
          </a:xfrm>
          <a:prstGeom prst="rect">
            <a:avLst/>
          </a:prstGeom>
          <a:solidFill>
            <a:srgbClr val="FDEBD7"/>
          </a:solidFill>
          <a:ln w="12700">
            <a:solidFill>
              <a:srgbClr val="BF55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2880360"/>
            <a:ext cx="5669280" cy="384048"/>
          </a:xfrm>
          <a:prstGeom prst="rect">
            <a:avLst/>
          </a:prstGeom>
          <a:solidFill>
            <a:srgbClr val="BF5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1655" y="2935224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Weighted AI Skill Matching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5" y="3337560"/>
            <a:ext cx="53949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Resumio distinguishes between required and preferred skills. Required skills carry 2x the weight. Experience and qualification are scored separately — far smarter than keyword search.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4663440"/>
            <a:ext cx="5669280" cy="1627632"/>
          </a:xfrm>
          <a:prstGeom prst="rect">
            <a:avLst/>
          </a:prstGeom>
          <a:solidFill>
            <a:srgbClr val="D1F2EB"/>
          </a:solidFill>
          <a:ln w="12700">
            <a:solidFill>
              <a:srgbClr val="0A72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4663440"/>
            <a:ext cx="5669280" cy="384048"/>
          </a:xfrm>
          <a:prstGeom prst="rect">
            <a:avLst/>
          </a:prstGeom>
          <a:solidFill>
            <a:srgbClr val="0A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91655" y="4718303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Duplicate Resume 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5" y="5120640"/>
            <a:ext cx="53949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Two-stage detection: SHA-256 hash catches exact duplicates. Text similarity algorithm (cosine similarity) catches near-duplicates where minor edits were made. All flagged automatically.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6EAF8"/>
                </a:solidFill>
              </a:rPr>
              <a:t>Resumio  |  DBMS Project  |  M. Sundhip Manhooj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8368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EAF8"/>
                </a:solidFill>
              </a:rPr>
              <a:t>Complete end-to-end workflow — from job posting to final hiring decision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97280"/>
            <a:ext cx="3767328" cy="2487168"/>
          </a:xfrm>
          <a:prstGeom prst="rect">
            <a:avLst/>
          </a:prstGeom>
          <a:solidFill>
            <a:srgbClr val="F2F4F8"/>
          </a:solidFill>
          <a:ln w="1524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457200" cy="24871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207007"/>
            <a:ext cx="30906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Step 1
Recruiter Posts a Job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" y="1874519"/>
            <a:ext cx="3090672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1993391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Recruiter fills in: job title, company, description, required skills, preferred skills, experience required, qualification needed, salary range, work mode, and deadline.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794760"/>
            <a:ext cx="3767328" cy="2487168"/>
          </a:xfrm>
          <a:prstGeom prst="rect">
            <a:avLst/>
          </a:prstGeom>
          <a:solidFill>
            <a:srgbClr val="F2F4F8"/>
          </a:solidFill>
          <a:ln w="1524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794760"/>
            <a:ext cx="457200" cy="2487168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904488"/>
            <a:ext cx="30906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6FB8"/>
                </a:solidFill>
              </a:rPr>
              <a:t>Step 2
Candidate Builds Profile &amp; Applies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" y="4572000"/>
            <a:ext cx="3090672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690872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Candidate creates their profile with education, skills, and experience. Uploads a resume. Browses published jobs. Submits application with optional cover letter.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79" y="1097280"/>
            <a:ext cx="3767328" cy="2487168"/>
          </a:xfrm>
          <a:prstGeom prst="rect">
            <a:avLst/>
          </a:prstGeom>
          <a:solidFill>
            <a:srgbClr val="F2F4F8"/>
          </a:solidFill>
          <a:ln w="15240">
            <a:solidFill>
              <a:srgbClr val="156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79" y="1097280"/>
            <a:ext cx="457200" cy="2487168"/>
          </a:xfrm>
          <a:prstGeom prst="rect">
            <a:avLst/>
          </a:prstGeom>
          <a:solidFill>
            <a:srgbClr val="156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64607" y="1207007"/>
            <a:ext cx="30906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E3C"/>
                </a:solidFill>
              </a:rPr>
              <a:t>Step 3
AI Reads the Resume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64607" y="1874519"/>
            <a:ext cx="3090672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4607" y="1993391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Resumio automatically extracts: name, contact, skills list, education history, years of experience, projects, and certifications from the uploaded PDF or DOCX file.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79" y="3794760"/>
            <a:ext cx="3767328" cy="2487168"/>
          </a:xfrm>
          <a:prstGeom prst="rect">
            <a:avLst/>
          </a:prstGeom>
          <a:solidFill>
            <a:srgbClr val="F2F4F8"/>
          </a:solidFill>
          <a:ln w="15240">
            <a:solidFill>
              <a:srgbClr val="BF55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79" y="3794760"/>
            <a:ext cx="457200" cy="2487168"/>
          </a:xfrm>
          <a:prstGeom prst="rect">
            <a:avLst/>
          </a:prstGeom>
          <a:solidFill>
            <a:srgbClr val="BF5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4607" y="3904488"/>
            <a:ext cx="30906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550A"/>
                </a:solidFill>
              </a:rPr>
              <a:t>Step 4
AI Scores the Match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64607" y="4572000"/>
            <a:ext cx="3090672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7" y="4690872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Score is calculated: (Required Skills Match x 0.40) + (Preferred Skills x 0.20) + (Experience Years x 0.25) + (Qualification Match x 0.15) = Final Score out of 100.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19" y="1097280"/>
            <a:ext cx="3767328" cy="2487168"/>
          </a:xfrm>
          <a:prstGeom prst="rect">
            <a:avLst/>
          </a:prstGeom>
          <a:solidFill>
            <a:srgbClr val="F2F4F8"/>
          </a:solidFill>
          <a:ln w="15240">
            <a:solidFill>
              <a:srgbClr val="6C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75319" y="1097280"/>
            <a:ext cx="457200" cy="2487168"/>
          </a:xfrm>
          <a:prstGeom prst="rect">
            <a:avLst/>
          </a:prstGeom>
          <a:solidFill>
            <a:srgbClr val="6C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42247" y="1207007"/>
            <a:ext cx="30906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58E"/>
                </a:solidFill>
              </a:rPr>
              <a:t>Step 5
Recruiter Reviews Ranked List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42247" y="1874519"/>
            <a:ext cx="3090672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42247" y="1993391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Recruiter opens the applicant list. Candidates are already sorted from highest to lowest match score. Recruiter reads AI-generated summaries and shortlists or rejects candidates.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19" y="3794760"/>
            <a:ext cx="3767328" cy="2487168"/>
          </a:xfrm>
          <a:prstGeom prst="rect">
            <a:avLst/>
          </a:prstGeom>
          <a:solidFill>
            <a:srgbClr val="F2F4F8"/>
          </a:solidFill>
          <a:ln w="15240">
            <a:solidFill>
              <a:srgbClr val="0A72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75319" y="3794760"/>
            <a:ext cx="457200" cy="2487168"/>
          </a:xfrm>
          <a:prstGeom prst="rect">
            <a:avLst/>
          </a:prstGeom>
          <a:solidFill>
            <a:srgbClr val="0A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42247" y="3904488"/>
            <a:ext cx="30906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7272"/>
                </a:solidFill>
              </a:rPr>
              <a:t>Step 6
Interview Scheduled &amp; Candidate Notified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42247" y="4572000"/>
            <a:ext cx="3090672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42247" y="4690872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Recruiter picks a date, type (Video/Phone/In-Person), and duration. Clicks schedule. Candidate immediately receives an in-app notification with full interview details and meeting link.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6EAF8"/>
                </a:solidFill>
              </a:rPr>
              <a:t>Resumio  |  DBMS Project  |  M. Sundhip Manhooj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Features — Candidate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8368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EAF8"/>
                </a:solidFill>
              </a:rPr>
              <a:t>Everything a candidate can do on Resumio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78992"/>
            <a:ext cx="5669280" cy="1243584"/>
          </a:xfrm>
          <a:prstGeom prst="rect">
            <a:avLst/>
          </a:prstGeom>
          <a:solidFill>
            <a:srgbClr val="D6EAF8"/>
          </a:solidFill>
          <a:ln w="1016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78992"/>
            <a:ext cx="64008" cy="1243584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7043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6FB8"/>
                </a:solidFill>
              </a:rPr>
              <a:t>Profile Builder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572768"/>
            <a:ext cx="5349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Add education, work experience, skills with proficiency levels, projects, and certifications. System auto-calculates a profile completion percentage to encourage completeness.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468880"/>
            <a:ext cx="5669280" cy="1243584"/>
          </a:xfrm>
          <a:prstGeom prst="rect">
            <a:avLst/>
          </a:prstGeom>
          <a:solidFill>
            <a:srgbClr val="D5F5E3"/>
          </a:solidFill>
          <a:ln w="10160">
            <a:solidFill>
              <a:srgbClr val="156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468880"/>
            <a:ext cx="64008" cy="1243584"/>
          </a:xfrm>
          <a:prstGeom prst="rect">
            <a:avLst/>
          </a:prstGeom>
          <a:solidFill>
            <a:srgbClr val="156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56032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56E3C"/>
                </a:solidFill>
              </a:rPr>
              <a:t>Resume Upload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962656"/>
            <a:ext cx="5349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Upload PDF or DOCX resumes. System stores the original filename and generates a unique stored name. Multiple resumes supported — candidate sets one as active at a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858768"/>
            <a:ext cx="5669280" cy="1243584"/>
          </a:xfrm>
          <a:prstGeom prst="rect">
            <a:avLst/>
          </a:prstGeom>
          <a:solidFill>
            <a:srgbClr val="D6EAF8"/>
          </a:solidFill>
          <a:ln w="1016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858768"/>
            <a:ext cx="64008" cy="12435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50207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</a:rPr>
              <a:t>Job Search &amp; Filter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352544"/>
            <a:ext cx="5349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Browse all published jobs. Filter by: job title, work mode (Remote / Hybrid / On-site), employment type (Full-time / Part-time / Internship), location, and salary range.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248656"/>
            <a:ext cx="5669280" cy="1243584"/>
          </a:xfrm>
          <a:prstGeom prst="rect">
            <a:avLst/>
          </a:prstGeom>
          <a:solidFill>
            <a:srgbClr val="FDEBD7"/>
          </a:solidFill>
          <a:ln w="10160">
            <a:solidFill>
              <a:srgbClr val="BF55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5248656"/>
            <a:ext cx="64008" cy="1243584"/>
          </a:xfrm>
          <a:prstGeom prst="rect">
            <a:avLst/>
          </a:prstGeom>
          <a:solidFill>
            <a:srgbClr val="BF5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340096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BF550A"/>
                </a:solidFill>
              </a:rPr>
              <a:t>AI Match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742432"/>
            <a:ext cx="5349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After applying, candidate sees their match score (0-100%) with a breakdown: how well their skills match required skills, preferred skills, experience, and qualification.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078992"/>
            <a:ext cx="5669280" cy="1243584"/>
          </a:xfrm>
          <a:prstGeom prst="rect">
            <a:avLst/>
          </a:prstGeom>
          <a:solidFill>
            <a:srgbClr val="F3E5F5"/>
          </a:solidFill>
          <a:ln w="10160">
            <a:solidFill>
              <a:srgbClr val="6C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1078992"/>
            <a:ext cx="64008" cy="1243584"/>
          </a:xfrm>
          <a:prstGeom prst="rect">
            <a:avLst/>
          </a:prstGeom>
          <a:solidFill>
            <a:srgbClr val="6C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117043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C358E"/>
                </a:solidFill>
              </a:rPr>
              <a:t>Skill Gap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1572768"/>
            <a:ext cx="5349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AI tells candidate exactly which required skills they are missing for the job, ranks them by priority (high / medium / low), and suggests what to learn first.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468880"/>
            <a:ext cx="5669280" cy="1243584"/>
          </a:xfrm>
          <a:prstGeom prst="rect">
            <a:avLst/>
          </a:prstGeom>
          <a:solidFill>
            <a:srgbClr val="D1F2EB"/>
          </a:solidFill>
          <a:ln w="10160">
            <a:solidFill>
              <a:srgbClr val="0A72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2468880"/>
            <a:ext cx="64008" cy="1243584"/>
          </a:xfrm>
          <a:prstGeom prst="rect">
            <a:avLst/>
          </a:prstGeom>
          <a:solidFill>
            <a:srgbClr val="0A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256032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7272"/>
                </a:solidFill>
              </a:rPr>
              <a:t>Application Tracker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962656"/>
            <a:ext cx="5349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See status of every application in one dashboard: Applied, Under Review, Shortlisted, or Rejected. View the full timeline of when each status changed and any recruiter notes.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858768"/>
            <a:ext cx="5669280" cy="1243584"/>
          </a:xfrm>
          <a:prstGeom prst="rect">
            <a:avLst/>
          </a:prstGeom>
          <a:solidFill>
            <a:srgbClr val="FDEDEC"/>
          </a:solidFill>
          <a:ln w="10160">
            <a:solidFill>
              <a:srgbClr val="A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3858768"/>
            <a:ext cx="64008" cy="1243584"/>
          </a:xfrm>
          <a:prstGeom prst="rect">
            <a:avLst/>
          </a:prstGeom>
          <a:solidFill>
            <a:srgbClr val="A0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950207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01818"/>
                </a:solidFill>
              </a:rPr>
              <a:t>Interview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4352544"/>
            <a:ext cx="5349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View all upcoming interviews with: type (Video / Phone / In-Person), scheduled date and time, duration, meeting URL, and status (Scheduled / Completed / Cancelled).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5248656"/>
            <a:ext cx="5669280" cy="1243584"/>
          </a:xfrm>
          <a:prstGeom prst="rect">
            <a:avLst/>
          </a:prstGeom>
          <a:solidFill>
            <a:srgbClr val="D5F5E3"/>
          </a:solidFill>
          <a:ln w="10160">
            <a:solidFill>
              <a:srgbClr val="156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5248656"/>
            <a:ext cx="64008" cy="1243584"/>
          </a:xfrm>
          <a:prstGeom prst="rect">
            <a:avLst/>
          </a:prstGeom>
          <a:solidFill>
            <a:srgbClr val="156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5340096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56E3C"/>
                </a:solidFill>
              </a:rPr>
              <a:t>Resume Improvement 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742432"/>
            <a:ext cx="5349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AI reviews the resume section-by-section and gives specific, actionable improvement suggestions for: Summary, Skills, Experience, Education, and Certifications.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6EAF8"/>
                </a:solidFill>
              </a:rPr>
              <a:t>Resumio  |  DBMS Project  |  M. Sundhip Manhooj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Features — Recruiter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8368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EAF8"/>
                </a:solidFill>
              </a:rPr>
              <a:t>Everything a recruiter can do on Resumio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78992"/>
            <a:ext cx="5669280" cy="1664208"/>
          </a:xfrm>
          <a:prstGeom prst="rect">
            <a:avLst/>
          </a:prstGeom>
          <a:solidFill>
            <a:srgbClr val="D6EAF8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78992"/>
            <a:ext cx="566928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" y="113385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Job Posting &amp;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" y="1554480"/>
            <a:ext cx="53949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Create detailed job listings with: title, description, required skills, preferred skills, min/max salary, experience requirements, qualification level, work mode, and application deadline. Edit, publish, close, or archive at any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907791"/>
            <a:ext cx="5669280" cy="1664208"/>
          </a:xfrm>
          <a:prstGeom prst="rect">
            <a:avLst/>
          </a:prstGeom>
          <a:solidFill>
            <a:srgbClr val="D6EAF8"/>
          </a:solidFill>
          <a:ln w="1270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907791"/>
            <a:ext cx="5669280" cy="384048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" y="296265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AI-Ranked Applicant 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" y="3383279"/>
            <a:ext cx="53949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All applicants are automatically ranked from highest to lowest match score. Recruiter can see the score breakdown per candidate: required skills %, preferred skills %, experience %, qualification %. No manual sorting needed.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736592"/>
            <a:ext cx="5669280" cy="1664208"/>
          </a:xfrm>
          <a:prstGeom prst="rect">
            <a:avLst/>
          </a:prstGeom>
          <a:solidFill>
            <a:srgbClr val="D5F5E3"/>
          </a:solidFill>
          <a:ln w="12700">
            <a:solidFill>
              <a:srgbClr val="156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4736592"/>
            <a:ext cx="5669280" cy="384048"/>
          </a:xfrm>
          <a:prstGeom prst="rect">
            <a:avLst/>
          </a:prstGeom>
          <a:solidFill>
            <a:srgbClr val="156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4791455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Application Pipeline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" y="5212079"/>
            <a:ext cx="53949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Move each candidate through the hiring stages: Applied → Under Review → Shortlisted → Rejected. Every status change is logged with timestamp. Add notes for each decision. Candidate is auto-notified on every change.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078992"/>
            <a:ext cx="5669280" cy="1664208"/>
          </a:xfrm>
          <a:prstGeom prst="rect">
            <a:avLst/>
          </a:prstGeom>
          <a:solidFill>
            <a:srgbClr val="FDEBD7"/>
          </a:solidFill>
          <a:ln w="12700">
            <a:solidFill>
              <a:srgbClr val="BF55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078992"/>
            <a:ext cx="5669280" cy="384048"/>
          </a:xfrm>
          <a:prstGeom prst="rect">
            <a:avLst/>
          </a:prstGeom>
          <a:solidFill>
            <a:srgbClr val="BF5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5" y="113385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Interview Scheduling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5" y="1554480"/>
            <a:ext cx="53949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Schedule interviews directly from the applicant view. Select type (Video Conference / Phone Call / In-Person), date, time, duration (default 45 mins), meeting URL or location, and add preparation notes for the candidate.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907791"/>
            <a:ext cx="5669280" cy="1664208"/>
          </a:xfrm>
          <a:prstGeom prst="rect">
            <a:avLst/>
          </a:prstGeom>
          <a:solidFill>
            <a:srgbClr val="F3E5F5"/>
          </a:solidFill>
          <a:ln w="12700">
            <a:solidFill>
              <a:srgbClr val="6C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2907791"/>
            <a:ext cx="5669280" cy="384048"/>
          </a:xfrm>
          <a:prstGeom prst="rect">
            <a:avLst/>
          </a:prstGeom>
          <a:solidFill>
            <a:srgbClr val="6C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1655" y="296265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Natural Language Candidate Search (AI)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5" y="3383279"/>
            <a:ext cx="53949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Type in plain English: 'Find React developers with 5+ years of experience in Bangalore'. The AI (Gemini) interprets the query, extracts filters, and runs a smart database search. Results are instant.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4736592"/>
            <a:ext cx="5669280" cy="1664208"/>
          </a:xfrm>
          <a:prstGeom prst="rect">
            <a:avLst/>
          </a:prstGeom>
          <a:solidFill>
            <a:srgbClr val="D1F2EB"/>
          </a:solidFill>
          <a:ln w="12700">
            <a:solidFill>
              <a:srgbClr val="0A72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4736592"/>
            <a:ext cx="5669280" cy="384048"/>
          </a:xfrm>
          <a:prstGeom prst="rect">
            <a:avLst/>
          </a:prstGeom>
          <a:solidFill>
            <a:srgbClr val="0A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91655" y="4791455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Interview Question Generator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5" y="5212079"/>
            <a:ext cx="53949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Select a candidate and a job. The AI generates a full set of categorized interview questions based on that specific candidate's resume and the job requirements: Technical, Behavioral, and Situational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C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6C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6EAF8"/>
                </a:solidFill>
              </a:rPr>
              <a:t>Resumio  |  DBMS Project  |  M. Sundhip Manhooj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AI-Powered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8368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EAF8"/>
                </a:solidFill>
              </a:rPr>
              <a:t>The AI engine that makes Resumio smart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78992"/>
            <a:ext cx="11521440" cy="804672"/>
          </a:xfrm>
          <a:prstGeom prst="rect">
            <a:avLst/>
          </a:prstGeom>
          <a:solidFill>
            <a:srgbClr val="D6EAF8"/>
          </a:solidFill>
          <a:ln w="1270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1556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AI Match Score Formula: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207008"/>
            <a:ext cx="8549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2A4A"/>
                </a:solidFill>
              </a:rPr>
              <a:t>Score  =  (Required Skills x 40%)  +  (Preferred Skills x 20%)  +  (Experience Years x 25%)  +  (Qualification x 15%)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993392"/>
            <a:ext cx="3767328" cy="2084831"/>
          </a:xfrm>
          <a:prstGeom prst="rect">
            <a:avLst/>
          </a:prstGeom>
          <a:solidFill>
            <a:srgbClr val="D6EAF8"/>
          </a:solidFill>
          <a:ln w="1016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993392"/>
            <a:ext cx="3767328" cy="36576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2039112"/>
            <a:ext cx="35478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Resume Parser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" y="2450592"/>
            <a:ext cx="3511296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1A"/>
                </a:solidFill>
              </a:rPr>
              <a:t>Automatically reads any PDF or DOCX resume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Extracts: name, email, phone, skills, education,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  experience, projects, certifications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No manual data entry required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Works on any resume format or layout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233672"/>
            <a:ext cx="3767328" cy="2084831"/>
          </a:xfrm>
          <a:prstGeom prst="rect">
            <a:avLst/>
          </a:prstGeom>
          <a:solidFill>
            <a:srgbClr val="D5F5E3"/>
          </a:solidFill>
          <a:ln w="10160">
            <a:solidFill>
              <a:srgbClr val="156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233672"/>
            <a:ext cx="3767328" cy="365760"/>
          </a:xfrm>
          <a:prstGeom prst="rect">
            <a:avLst/>
          </a:prstGeom>
          <a:solidFill>
            <a:srgbClr val="156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4279392"/>
            <a:ext cx="35478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AI Candidate Summary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" y="4690872"/>
            <a:ext cx="3511296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1A"/>
                </a:solidFill>
              </a:rPr>
              <a:t>Google Gemini generates a 3-5 sentence summary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Explains: why the candidate is or isn't a fit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Based on the actual extracted resume data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Recruiter reads it before looking at the full CV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Saves 80% of time spent reading resumes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79" y="1993392"/>
            <a:ext cx="3767328" cy="2084831"/>
          </a:xfrm>
          <a:prstGeom prst="rect">
            <a:avLst/>
          </a:prstGeom>
          <a:solidFill>
            <a:srgbClr val="F3E5F5"/>
          </a:solidFill>
          <a:ln w="10160">
            <a:solidFill>
              <a:srgbClr val="6C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79" y="1993392"/>
            <a:ext cx="3767328" cy="365760"/>
          </a:xfrm>
          <a:prstGeom prst="rect">
            <a:avLst/>
          </a:prstGeom>
          <a:solidFill>
            <a:srgbClr val="6C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16551" y="2039112"/>
            <a:ext cx="35478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Skill Gap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3" y="2450592"/>
            <a:ext cx="3511296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1A"/>
                </a:solidFill>
              </a:rPr>
              <a:t>Shows candidate exactly what they are missing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Skills ranked: High Priority / Medium / Low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Matched skills also shown for confidence boost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Learning path recommendations provided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Stored in database for future reference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79" y="4233672"/>
            <a:ext cx="3767328" cy="2084831"/>
          </a:xfrm>
          <a:prstGeom prst="rect">
            <a:avLst/>
          </a:prstGeom>
          <a:solidFill>
            <a:srgbClr val="FDEBD7"/>
          </a:solidFill>
          <a:ln w="10160">
            <a:solidFill>
              <a:srgbClr val="BF55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79" y="4233672"/>
            <a:ext cx="3767328" cy="365760"/>
          </a:xfrm>
          <a:prstGeom prst="rect">
            <a:avLst/>
          </a:prstGeom>
          <a:solidFill>
            <a:srgbClr val="BF5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16551" y="4279392"/>
            <a:ext cx="35478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AI Interview Questions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3983" y="4690872"/>
            <a:ext cx="3511296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1A"/>
                </a:solidFill>
              </a:rPr>
              <a:t>Generates tailored questions per candidate + job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Categories: Technical, Behavioral, Situational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Based on candidate's actual resume content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Based on the specific job requirements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Recruiter can download the question set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19" y="1993392"/>
            <a:ext cx="3767328" cy="2084831"/>
          </a:xfrm>
          <a:prstGeom prst="rect">
            <a:avLst/>
          </a:prstGeom>
          <a:solidFill>
            <a:srgbClr val="D1F2EB"/>
          </a:solidFill>
          <a:ln w="10160">
            <a:solidFill>
              <a:srgbClr val="0A72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75319" y="1993392"/>
            <a:ext cx="3767328" cy="365760"/>
          </a:xfrm>
          <a:prstGeom prst="rect">
            <a:avLst/>
          </a:prstGeom>
          <a:solidFill>
            <a:srgbClr val="0A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4192" y="2039112"/>
            <a:ext cx="35478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Resume Improvement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1624" y="2450592"/>
            <a:ext cx="3511296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1A"/>
                </a:solidFill>
              </a:rPr>
              <a:t>Reviews resume section by section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Gives specific actionable suggestions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Sections: Summary, Skills, Experience, Education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Tailored to the target job role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Stored and retrievable by candidate anytime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19" y="4233672"/>
            <a:ext cx="3767328" cy="2084831"/>
          </a:xfrm>
          <a:prstGeom prst="rect">
            <a:avLst/>
          </a:prstGeom>
          <a:solidFill>
            <a:srgbClr val="FDEDEC"/>
          </a:solidFill>
          <a:ln w="10160">
            <a:solidFill>
              <a:srgbClr val="A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75319" y="4233672"/>
            <a:ext cx="3767328" cy="365760"/>
          </a:xfrm>
          <a:prstGeom prst="rect">
            <a:avLst/>
          </a:prstGeom>
          <a:solidFill>
            <a:srgbClr val="A0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94192" y="4279392"/>
            <a:ext cx="35478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Duplicate Resume Detection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1624" y="4690872"/>
            <a:ext cx="3511296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1A"/>
                </a:solidFill>
              </a:rPr>
              <a:t>Stage 1: SHA-256 hash — catches exact copies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Stage 2: Text cosine similarity — near duplicates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Threshold: &gt;85% similarity = flagged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Result: Exact / Likely / Not Duplicate label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1A1A1A"/>
                </a:solidFill>
              </a:rPr>
              <a:t>Recruiter sees all flagged resume pairs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6EAF8"/>
                </a:solidFill>
              </a:rPr>
              <a:t>Resumio  |  DBMS Project  |  M. Sundhip Manhooj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8368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EAF8"/>
                </a:solidFill>
              </a:rPr>
              <a:t>Tools and technologies used to build Resumio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78992"/>
            <a:ext cx="2816352" cy="5349240"/>
          </a:xfrm>
          <a:prstGeom prst="rect">
            <a:avLst/>
          </a:prstGeom>
          <a:solidFill>
            <a:srgbClr val="D6EAF8"/>
          </a:solidFill>
          <a:ln w="1270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78992"/>
            <a:ext cx="2816352" cy="438912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10642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" y="1664208"/>
            <a:ext cx="2615184" cy="82296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" y="1728216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6FB8"/>
                </a:solidFill>
              </a:rPr>
              <a:t>React 19 + TypeScript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" y="21031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Component-based UI with full type safety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" y="2596896"/>
            <a:ext cx="2615184" cy="822960"/>
          </a:xfrm>
          <a:prstGeom prst="rect">
            <a:avLst/>
          </a:prstGeom>
          <a:solidFill>
            <a:srgbClr val="EBF3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7" y="2660903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6FB8"/>
                </a:solidFill>
              </a:rPr>
              <a:t>Vite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303580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Fast build tool and development server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3529584"/>
            <a:ext cx="2615184" cy="82296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7" y="359359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6FB8"/>
                </a:solidFill>
              </a:rPr>
              <a:t>Tailwind CSS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7" y="3968496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Utility-first CSS for responsive design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4462272"/>
            <a:ext cx="2615184" cy="822960"/>
          </a:xfrm>
          <a:prstGeom prst="rect">
            <a:avLst/>
          </a:prstGeom>
          <a:solidFill>
            <a:srgbClr val="EBF3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45262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6FB8"/>
                </a:solidFill>
              </a:rPr>
              <a:t>React Router v7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4901183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Client-side navigation between pages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" y="5394960"/>
            <a:ext cx="2615184" cy="82296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7" y="545896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6FB8"/>
                </a:solidFill>
              </a:rPr>
              <a:t>Lucide React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" y="583387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Consistent icon component library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1078992"/>
            <a:ext cx="2816352" cy="5349240"/>
          </a:xfrm>
          <a:prstGeom prst="rect">
            <a:avLst/>
          </a:prstGeom>
          <a:solidFill>
            <a:srgbClr val="D5F5E3"/>
          </a:solidFill>
          <a:ln w="12700">
            <a:solidFill>
              <a:srgbClr val="156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91840" y="1078992"/>
            <a:ext cx="2816352" cy="438912"/>
          </a:xfrm>
          <a:prstGeom prst="rect">
            <a:avLst/>
          </a:prstGeom>
          <a:solidFill>
            <a:srgbClr val="156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110642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01568" y="1664208"/>
            <a:ext cx="2615184" cy="82296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93008" y="1728216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E3C"/>
                </a:solidFill>
              </a:rPr>
              <a:t>Node.js + Express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3008" y="21031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REST API server and routing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01568" y="2596896"/>
            <a:ext cx="2615184" cy="822960"/>
          </a:xfrm>
          <a:prstGeom prst="rect">
            <a:avLst/>
          </a:prstGeom>
          <a:solidFill>
            <a:srgbClr val="EBF3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93008" y="2660903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E3C"/>
                </a:solidFill>
              </a:rPr>
              <a:t>JWT Authentication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93008" y="303580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Secure stateless login tokens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01568" y="3529584"/>
            <a:ext cx="2615184" cy="82296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93008" y="359359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E3C"/>
                </a:solidFill>
              </a:rPr>
              <a:t>bcryptjs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93008" y="3968496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Password hashing — bcrypt algorithm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01568" y="4462272"/>
            <a:ext cx="2615184" cy="822960"/>
          </a:xfrm>
          <a:prstGeom prst="rect">
            <a:avLst/>
          </a:prstGeom>
          <a:solidFill>
            <a:srgbClr val="EBF3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93008" y="45262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E3C"/>
                </a:solidFill>
              </a:rPr>
              <a:t>Multer 2.x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93008" y="4901183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Resume file upload handling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01568" y="5394960"/>
            <a:ext cx="2615184" cy="82296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93008" y="545896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E3C"/>
                </a:solidFill>
              </a:rPr>
              <a:t>uuid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93008" y="583387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UUID v4 for all primary keys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1078992"/>
            <a:ext cx="2816352" cy="5349240"/>
          </a:xfrm>
          <a:prstGeom prst="rect">
            <a:avLst/>
          </a:prstGeom>
          <a:solidFill>
            <a:srgbClr val="D6EAF8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63640" y="1078992"/>
            <a:ext cx="2816352" cy="43891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79" y="110642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73368" y="1664208"/>
            <a:ext cx="2615184" cy="82296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64807" y="1728216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SQLite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64807" y="21031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Lightweight relational database — single file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73368" y="2596896"/>
            <a:ext cx="2615184" cy="822960"/>
          </a:xfrm>
          <a:prstGeom prst="rect">
            <a:avLst/>
          </a:prstGeom>
          <a:solidFill>
            <a:srgbClr val="EBF3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64807" y="2660903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better-sqlite3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64807" y="303580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Fast synchronous Node.js SQLite driver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73368" y="3529584"/>
            <a:ext cx="2615184" cy="82296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64807" y="359359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26 Tables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64807" y="3968496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Fully relational, normalized schema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73368" y="4462272"/>
            <a:ext cx="2615184" cy="822960"/>
          </a:xfrm>
          <a:prstGeom prst="rect">
            <a:avLst/>
          </a:prstGeom>
          <a:solidFill>
            <a:srgbClr val="EBF3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64807" y="45262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3NF Schema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64807" y="4901183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No redundancy, no anomalies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73368" y="5394960"/>
            <a:ext cx="2615184" cy="82296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64807" y="545896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PRAGMA FK 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64807" y="583387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Foreign key enforcement at DB level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35440" y="1078992"/>
            <a:ext cx="2816352" cy="5349240"/>
          </a:xfrm>
          <a:prstGeom prst="rect">
            <a:avLst/>
          </a:prstGeom>
          <a:solidFill>
            <a:srgbClr val="F3E5F5"/>
          </a:solidFill>
          <a:ln w="12700">
            <a:solidFill>
              <a:srgbClr val="6C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235440" y="1078992"/>
            <a:ext cx="2816352" cy="438912"/>
          </a:xfrm>
          <a:prstGeom prst="rect">
            <a:avLst/>
          </a:prstGeom>
          <a:solidFill>
            <a:srgbClr val="6C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26880" y="110642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AI LAYER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345167" y="1664208"/>
            <a:ext cx="2615184" cy="82296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436608" y="1728216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358E"/>
                </a:solidFill>
              </a:rPr>
              <a:t>Google Gemini API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36608" y="21031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LLM for summaries, gap analysis, interview Qs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345167" y="2596896"/>
            <a:ext cx="2615184" cy="822960"/>
          </a:xfrm>
          <a:prstGeom prst="rect">
            <a:avLst/>
          </a:prstGeom>
          <a:solidFill>
            <a:srgbClr val="EBF3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436608" y="2660903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358E"/>
                </a:solidFill>
              </a:rPr>
              <a:t>Resume Parser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36608" y="303580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Custom NLP text extraction from PDFs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345167" y="3529584"/>
            <a:ext cx="2615184" cy="82296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436608" y="359359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358E"/>
                </a:solidFill>
              </a:rPr>
              <a:t>Match Scoring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436608" y="3968496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Deterministic weighted scoring algorithm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345167" y="4462272"/>
            <a:ext cx="2615184" cy="822960"/>
          </a:xfrm>
          <a:prstGeom prst="rect">
            <a:avLst/>
          </a:prstGeom>
          <a:solidFill>
            <a:srgbClr val="EBF3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36608" y="45262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358E"/>
                </a:solidFill>
              </a:rPr>
              <a:t>SHA-256 Hashing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436608" y="4901183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Exact duplicate resume detection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345167" y="5394960"/>
            <a:ext cx="2615184" cy="82296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436608" y="545896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358E"/>
                </a:solidFill>
              </a:rPr>
              <a:t>Cosine Similarity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436608" y="583387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Near-duplicate resume detection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6EAF8"/>
                </a:solidFill>
              </a:rPr>
              <a:t>Resumio  |  DBMS Project  |  M. Sundhip Manhooj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Database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8368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EAF8"/>
                </a:solidFill>
              </a:rPr>
              <a:t>26 relational tables — what data Resumio stores and why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78992"/>
            <a:ext cx="11521440" cy="640080"/>
          </a:xfrm>
          <a:prstGeom prst="rect">
            <a:avLst/>
          </a:prstGeom>
          <a:solidFill>
            <a:srgbClr val="D6EAF8"/>
          </a:solidFill>
          <a:ln w="1016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155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2A4A"/>
                </a:solidFill>
              </a:rPr>
              <a:t>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6304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77777"/>
                </a:solidFill>
              </a:rPr>
              <a:t>Relational 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152" y="11155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2A4A"/>
                </a:solidFill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146304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77777"/>
                </a:solidFill>
              </a:rPr>
              <a:t>Development Phases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1155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2A4A"/>
                </a:solidFill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1104" y="146304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77777"/>
                </a:solidFill>
              </a:rPr>
              <a:t>FK Integrity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11155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2A4A"/>
                </a:solidFill>
              </a:rPr>
              <a:t>3NF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6" y="146304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77777"/>
                </a:solidFill>
              </a:rPr>
              <a:t>Normalized 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11155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2A4A"/>
                </a:solidFill>
              </a:rPr>
              <a:t>ACID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146304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77777"/>
                </a:solidFill>
              </a:rPr>
              <a:t>Transaction Safe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11155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2A4A"/>
                </a:solidFill>
              </a:rP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146304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77777"/>
                </a:solidFill>
              </a:rPr>
              <a:t>B-Tree Indexes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1810512"/>
            <a:ext cx="11521440" cy="749808"/>
          </a:xfrm>
          <a:prstGeom prst="rect">
            <a:avLst/>
          </a:prstGeom>
          <a:solidFill>
            <a:srgbClr val="D6EAF8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1810512"/>
            <a:ext cx="64008" cy="7498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185623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</a:rPr>
              <a:t>Phase 1 — Users &amp; Profiles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194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</a:rPr>
              <a:t>users  |  candidate_profiles  |  recruiter_profiles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190195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Stores all user accounts and profile information. UNIQUE constraint on email. 1:1 relationship between users and profiles enforced via UNIQUE FK.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606040"/>
            <a:ext cx="1152144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2606040"/>
            <a:ext cx="64008" cy="749808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651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6FB8"/>
                </a:solidFill>
              </a:rPr>
              <a:t>Phase 2 — Candidate Portfolio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990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</a:rPr>
              <a:t>candidate_education  |  candidate_skills  |  candidate_experience  |  candidate_projects  |  candidate_certifications  |  candidate_resumes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269748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Each section of a candidate's profile is a separate normalized table. Skills are NOT stored as comma lists — each skill is a separate row. Weak entity: candidate_resumes.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401568"/>
            <a:ext cx="11521440" cy="749808"/>
          </a:xfrm>
          <a:prstGeom prst="rect">
            <a:avLst/>
          </a:prstGeom>
          <a:solidFill>
            <a:srgbClr val="D6EAF8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3401568"/>
            <a:ext cx="64008" cy="749808"/>
          </a:xfrm>
          <a:prstGeom prst="rect">
            <a:avLst/>
          </a:prstGeom>
          <a:solidFill>
            <a:srgbClr val="156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44728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E3C"/>
                </a:solidFill>
              </a:rPr>
              <a:t>Phase 3 — Job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785615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</a:rPr>
              <a:t>jobs  |  job_required_skills  |  job_preferred_skills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349300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Jobs stored with full details. Required and preferred skills each have their own table — enables separate scoring weights (40% vs 20%) in the AI match algorithm.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197096"/>
            <a:ext cx="1152144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4197096"/>
            <a:ext cx="64008" cy="749808"/>
          </a:xfrm>
          <a:prstGeom prst="rect">
            <a:avLst/>
          </a:prstGeom>
          <a:solidFill>
            <a:srgbClr val="BF5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2428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F550A"/>
                </a:solidFill>
              </a:rPr>
              <a:t>Phase 4 — Applications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5811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</a:rPr>
              <a:t>applications  |  application_status_history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4288536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applications resolves the M:N relationship between candidates and jobs. UNIQUE(candidate_id, job_id) prevents duplicate applications. History table logs every status change with user, timestamp, and note.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992624"/>
            <a:ext cx="11521440" cy="749808"/>
          </a:xfrm>
          <a:prstGeom prst="rect">
            <a:avLst/>
          </a:prstGeom>
          <a:solidFill>
            <a:srgbClr val="D6EAF8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" y="4992624"/>
            <a:ext cx="64008" cy="749808"/>
          </a:xfrm>
          <a:prstGeom prst="rect">
            <a:avLst/>
          </a:prstGeom>
          <a:solidFill>
            <a:srgbClr val="6C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0383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C358E"/>
                </a:solidFill>
              </a:rPr>
              <a:t>Phase 5-6 — AI Processing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3766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</a:rPr>
              <a:t>resume_parsed_data  |  resume_screenings  |  resume_job_matches  |  candidate_job_summaries  |  skill_gap_analyses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5084064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All AI results are stored in the database — not computed on demand. Match score stored in resume_job_matches. AI summary in candidate_job_summaries. Gaps in skill_gap_analyses.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788152"/>
            <a:ext cx="1152144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0040" y="5788152"/>
            <a:ext cx="64008" cy="749808"/>
          </a:xfrm>
          <a:prstGeom prst="rect">
            <a:avLst/>
          </a:prstGeom>
          <a:solidFill>
            <a:srgbClr val="0A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5833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7272"/>
                </a:solidFill>
              </a:rPr>
              <a:t>Phase 7-8 — Interviews &amp; AI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172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</a:rPr>
              <a:t>interviews  |  interview_status_history  |  notifications  |  natural_language_searches  |  resume_duplicate_matches  |  interview_question_sets  |  resume_improvement_analyses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91840" y="587959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Full interview lifecycle with audit trail. In-app notification system. AI-powered natural language search. Duplicate resume detection results stored for recruiter review.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6EAF8"/>
                </a:solidFill>
              </a:rPr>
              <a:t>Resumio  |  DBMS Project  |  M. Sundhip Manhooj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Normalization &amp; Data Integrity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8368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EAF8"/>
                </a:solidFill>
              </a:rPr>
              <a:t>How the Resumio database avoids redundancy and enforces integrity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78992"/>
            <a:ext cx="115214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06424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DATABASE NORMALIZATION — 3NF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81328"/>
            <a:ext cx="3767328" cy="2304288"/>
          </a:xfrm>
          <a:prstGeom prst="rect">
            <a:avLst/>
          </a:prstGeom>
          <a:solidFill>
            <a:srgbClr val="D6EAF8"/>
          </a:solidFill>
          <a:ln w="1016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481328"/>
            <a:ext cx="3767328" cy="36576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1508760"/>
            <a:ext cx="35478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1NF  —  First Normal 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" y="1920240"/>
            <a:ext cx="3511296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</a:rPr>
              <a:t>Every column contains atomic (single, indivisible) values.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1A1A1A"/>
                </a:solidFill>
              </a:rPr>
              <a:t>No repeating groups or arrays. Skills are NOT stored as 'Python, React, SQL' in one field.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1A1A1A"/>
                </a:solidFill>
              </a:rPr>
              <a:t>Each table has a Primary Key: id CHAR(36) UUID.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1A1A1A"/>
                </a:solidFill>
              </a:rPr>
              <a:t>Example: candidate_skills has one skill per row, not a comma-separated list in profiles.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1481328"/>
            <a:ext cx="3767328" cy="2304288"/>
          </a:xfrm>
          <a:prstGeom prst="rect">
            <a:avLst/>
          </a:prstGeom>
          <a:solidFill>
            <a:srgbClr val="D5F5E3"/>
          </a:solidFill>
          <a:ln w="10160">
            <a:solidFill>
              <a:srgbClr val="156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481328"/>
            <a:ext cx="3767328" cy="365760"/>
          </a:xfrm>
          <a:prstGeom prst="rect">
            <a:avLst/>
          </a:prstGeom>
          <a:solidFill>
            <a:srgbClr val="156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1" y="1508760"/>
            <a:ext cx="35478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2NF  —  Second Normal 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3" y="1920240"/>
            <a:ext cx="3511296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</a:rPr>
              <a:t>All 1NF conditions satisfied.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1A1A1A"/>
                </a:solidFill>
              </a:rPr>
              <a:t>Every non-key attribute is fully dependent on the entire primary key.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1A1A1A"/>
                </a:solidFill>
              </a:rPr>
              <a:t>Resumio uses single-column UUID PKs everywhere — no composite PKs — so 2NF is automatic.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1A1A1A"/>
                </a:solidFill>
              </a:rPr>
              <a:t>Example: All attributes in applications depend only on the application's id.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19" y="1481328"/>
            <a:ext cx="3767328" cy="2304288"/>
          </a:xfrm>
          <a:prstGeom prst="rect">
            <a:avLst/>
          </a:prstGeom>
          <a:solidFill>
            <a:srgbClr val="F3E5F5"/>
          </a:solidFill>
          <a:ln w="10160">
            <a:solidFill>
              <a:srgbClr val="6C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19" y="1481328"/>
            <a:ext cx="3767328" cy="365760"/>
          </a:xfrm>
          <a:prstGeom prst="rect">
            <a:avLst/>
          </a:prstGeom>
          <a:solidFill>
            <a:srgbClr val="6C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1508760"/>
            <a:ext cx="35478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3NF  —  Third Normal 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1920240"/>
            <a:ext cx="3511296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</a:rPr>
              <a:t>All 2NF conditions satisfied. No transitive dependencies exist.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1A1A1A"/>
                </a:solidFill>
              </a:rPr>
              <a:t>Company name lives in recruiter_profiles only — NOT duplicated inside every jobs row.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1A1A1A"/>
                </a:solidFill>
              </a:rPr>
              <a:t>Candidate name is never stored in applications — always fetched via JOIN on users.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1A1A1A"/>
                </a:solidFill>
              </a:rPr>
              <a:t>Match scores live in resume_job_matches — never duplicated in applications table.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877056"/>
            <a:ext cx="115214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904487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INTEGRITY RULES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279392"/>
            <a:ext cx="2834640" cy="2148840"/>
          </a:xfrm>
          <a:prstGeom prst="rect">
            <a:avLst/>
          </a:prstGeom>
          <a:solidFill>
            <a:srgbClr val="F2F4F8"/>
          </a:solidFill>
          <a:ln w="1016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279392"/>
            <a:ext cx="283464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4306824"/>
            <a:ext cx="26151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Foreign Keys Enforced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4709160"/>
            <a:ext cx="2615184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PRAGMA foreign_keys = ON — every connection. Deletes and updates that violate FK are rejected. User deletion cascades through profiles, resumes, applications, interviews, notifications automatically.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4279392"/>
            <a:ext cx="2834640" cy="2148840"/>
          </a:xfrm>
          <a:prstGeom prst="rect">
            <a:avLst/>
          </a:prstGeom>
          <a:solidFill>
            <a:srgbClr val="F2F4F8"/>
          </a:solidFill>
          <a:ln w="10160">
            <a:solidFill>
              <a:srgbClr val="156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91840" y="4279392"/>
            <a:ext cx="2834640" cy="365760"/>
          </a:xfrm>
          <a:prstGeom prst="rect">
            <a:avLst/>
          </a:prstGeom>
          <a:solidFill>
            <a:srgbClr val="156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10712" y="4306824"/>
            <a:ext cx="26151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CHECK Constraints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10712" y="4709160"/>
            <a:ext cx="2615184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role: only 'candidate/recruiter/admin'. employment_type: only defined values. work_mode: On-site/Hybrid/Remote. interview_type: Video/Phone/In Person. All enforced at DB level — invalid values rejected.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279392"/>
            <a:ext cx="2834640" cy="2148840"/>
          </a:xfrm>
          <a:prstGeom prst="rect">
            <a:avLst/>
          </a:prstGeom>
          <a:solidFill>
            <a:srgbClr val="F2F4F8"/>
          </a:solidFill>
          <a:ln w="1016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4279392"/>
            <a:ext cx="2834640" cy="36576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4306824"/>
            <a:ext cx="26151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UNIQUE Constraints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4709160"/>
            <a:ext cx="2615184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users.email unique — no duplicate accounts. UNIQUE(candidate_id, job_id) on applications — one application per job. UNIQUE(profile_id, skill_name) — no duplicate skills. UNIQUE(resume_id) in parsed data.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35440" y="4279392"/>
            <a:ext cx="2834640" cy="2148840"/>
          </a:xfrm>
          <a:prstGeom prst="rect">
            <a:avLst/>
          </a:prstGeom>
          <a:solidFill>
            <a:srgbClr val="F2F4F8"/>
          </a:solidFill>
          <a:ln w="10160">
            <a:solidFill>
              <a:srgbClr val="BF55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35440" y="4279392"/>
            <a:ext cx="2834640" cy="365760"/>
          </a:xfrm>
          <a:prstGeom prst="rect">
            <a:avLst/>
          </a:prstGeom>
          <a:solidFill>
            <a:srgbClr val="BF5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54312" y="4306824"/>
            <a:ext cx="26151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ACID Transactions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54312" y="4709160"/>
            <a:ext cx="2615184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Multi-step operations (apply + log status + notify) wrapped in transactions. If any step fails, entire operation rolls back — database never left in partial state. SQLite WAL mode for concurrent access.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74519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D6EAF8"/>
                </a:solidFill>
              </a:rPr>
              <a:t>Resumio — AI Resume Screening &amp; Recruitment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AF8"/>
                </a:solidFill>
              </a:rPr>
              <a:t>DBMS Project  |  M. Sundhip Manhooj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31720"/>
            <a:ext cx="2743200" cy="3200400"/>
          </a:xfrm>
          <a:prstGeom prst="rect">
            <a:avLst/>
          </a:prstGeom>
          <a:solidFill>
            <a:srgbClr val="D6EAF8"/>
          </a:solidFill>
          <a:ln w="1524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2743200" cy="384048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359152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Full-Stack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788920"/>
            <a:ext cx="254203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React 19 + Node.js + Express + SQLite — complete working web application with separate dashboards for Candidate, Recruiter, and Admin.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331720"/>
            <a:ext cx="2743200" cy="3200400"/>
          </a:xfrm>
          <a:prstGeom prst="rect">
            <a:avLst/>
          </a:prstGeom>
          <a:solidFill>
            <a:srgbClr val="F3E5F5"/>
          </a:solidFill>
          <a:ln w="15240">
            <a:solidFill>
              <a:srgbClr val="6C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2331720"/>
            <a:ext cx="2743200" cy="384048"/>
          </a:xfrm>
          <a:prstGeom prst="rect">
            <a:avLst/>
          </a:prstGeom>
          <a:solidFill>
            <a:srgbClr val="6C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2359152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AI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788920"/>
            <a:ext cx="254203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Google Gemini + custom NLP — resume parsing, 0-100% match scoring, skill gap analysis, summaries, interview questions, and duplicate detection.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331720"/>
            <a:ext cx="2743200" cy="3200400"/>
          </a:xfrm>
          <a:prstGeom prst="rect">
            <a:avLst/>
          </a:prstGeom>
          <a:solidFill>
            <a:srgbClr val="D6EAF8"/>
          </a:solidFill>
          <a:ln w="1524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331720"/>
            <a:ext cx="274320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2359152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Database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788920"/>
            <a:ext cx="254203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26 tables, 3NF normalized, 100% FK integrity, ACID transactions, 11 B-Tree indexes, CHECK constraints, UNIQUE constraints, and cascade delete rules.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2331720"/>
            <a:ext cx="2743200" cy="3200400"/>
          </a:xfrm>
          <a:prstGeom prst="rect">
            <a:avLst/>
          </a:prstGeom>
          <a:solidFill>
            <a:srgbClr val="D5F5E3"/>
          </a:solidFill>
          <a:ln w="15240">
            <a:solidFill>
              <a:srgbClr val="156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2331720"/>
            <a:ext cx="2743200" cy="384048"/>
          </a:xfrm>
          <a:prstGeom prst="rect">
            <a:avLst/>
          </a:prstGeom>
          <a:solidFill>
            <a:srgbClr val="156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2359152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Real-World Problem Solved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2788920"/>
            <a:ext cx="254203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Replaces manual resume screening with automated AI ranking. Gives recruiters instant ranked lists. Gives candidates transparent feedback and improvement guidance.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6072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F6FB8"/>
                </a:solidFill>
              </a:rPr>
              <a:t>github.com/sundhip/Resumio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55624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6EAF8"/>
                </a:solidFill>
              </a:rPr>
              <a:t>Resumio  |  DBMS Project  |  M. Sundhip Manhooj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