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834640"/>
            <a:ext cx="7315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RESUMIO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B6D4"/>
                </a:solidFill>
              </a:rPr>
              <a:t>AI Resume Screening &amp; Recruitment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DBMS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246888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B6D4"/>
                </a:solidFill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Database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931920"/>
            <a:ext cx="246888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4023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</a:rPr>
              <a:t>3NF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Normalization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931920"/>
            <a:ext cx="246888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Dev Phases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931920"/>
            <a:ext cx="246888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023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366F1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FK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Submitted for DBMS Project Evaluation  ·  M. Sundhip Manhooj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Project overview — what this presentation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075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 Overview &amp;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88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3075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Statement &amp;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4884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488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3134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 Stack &amp;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4884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4884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134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Entity-Relationship (ER) Diagram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5468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3192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Relational Schema — All 26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15468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15468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3192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Features — Candidate Portal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6052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16052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2062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3251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Features — Recruiter &amp; Admin Portal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16052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160520"/>
            <a:ext cx="54864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2062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3251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Features &amp; Intelligence Layer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6636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16636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212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3309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Normalization &amp; ACID Compliance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166360"/>
            <a:ext cx="55778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16636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212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3309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Indexing Strategy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What is Resumio?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</a:rPr>
              <a:t>📋 Project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Resumio is an enterprise-grade AI-powered Resume Screening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&amp; Recruitment Portal built as a full-stack web application.</a:t>
            </a:r>
          </a:p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It provides end-to-end recruitment workflow management: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Candidates create profiles, upload resumes &amp; apply for jobs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Recruiters post jobs, screen candidates &amp; schedule interviews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AI engine parses resumes, scores matches (0–100%), and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  generates skill gap analyses &amp; improvement suggestions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Admin oversees the entire platform with analytics</a:t>
            </a:r>
          </a:p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Built across 10 development phases, the system covers: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Full authentication &amp; role-based access control (RBAC)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26 relational database tables in 3NF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Deterministic AI matching with scoring breakdown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Interview scheduling with notification system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Natural-language candidate search for recruiters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▸  Resume duplicate detection (SHA-256 &amp; text similarity)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97280"/>
            <a:ext cx="571500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97280"/>
            <a:ext cx="5715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📊 Database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6B6D4"/>
                </a:solidFill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Relational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691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FK Integrity (0 violations)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366F1"/>
                </a:solidFill>
              </a:rPr>
              <a:t>3NF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060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Fully Normalized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97316"/>
                </a:solidFill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6060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Phase Test Suites (All Pass)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657600"/>
            <a:ext cx="571500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3657600"/>
            <a:ext cx="5715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712463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👥 User Roles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29768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315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🎓 CANDIDATE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53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Upload resumes, browse jobs, track applications, view interviews, get AI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983480"/>
            <a:ext cx="54864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001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🏢 RECRUITER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Post jobs, screen applicants, schedule interviews, view AI match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669280"/>
            <a:ext cx="54864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687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⚙️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925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Platform oversight, user management,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Why Resumio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❌ 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✅ 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05840"/>
            <a:ext cx="36576" cy="5669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486400" cy="868680"/>
          </a:xfrm>
          <a:prstGeom prst="rect">
            <a:avLst/>
          </a:prstGeom>
          <a:solidFill>
            <a:srgbClr val="3B0E0E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45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Manual Resume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89280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Recruiters spend hours reading each resume manually — inefficient &amp; inconsistent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486400" cy="86868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45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AI Resume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89280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Auto-extracts skills, education, experience, projects, certifications from any PDF/DOCX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5486400" cy="868680"/>
          </a:xfrm>
          <a:prstGeom prst="rect">
            <a:avLst/>
          </a:prstGeom>
          <a:solidFill>
            <a:srgbClr val="3B0E0E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514600"/>
            <a:ext cx="54864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No Quantified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898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objective way to rank candidates against job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14600"/>
            <a:ext cx="5486400" cy="86868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1460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Match Score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898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Deterministic 0–100% score across required skills, preferred skills, experience, qualification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5486400" cy="868680"/>
          </a:xfrm>
          <a:prstGeom prst="rect">
            <a:avLst/>
          </a:prstGeom>
          <a:solidFill>
            <a:srgbClr val="3B0E0E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20440"/>
            <a:ext cx="54864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5570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Fragmented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904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Separate tools for posting jobs, collecting applications, scheduling interviews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20440"/>
            <a:ext cx="5486400" cy="86868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52044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5570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Unified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904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Single system: job posting → application → AI screening → interviews → notifications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26280"/>
            <a:ext cx="5486400" cy="868680"/>
          </a:xfrm>
          <a:prstGeom prst="rect">
            <a:avLst/>
          </a:prstGeom>
          <a:solidFill>
            <a:srgbClr val="3B0E0E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26280"/>
            <a:ext cx="54864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5628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No Skill Gap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9103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Candidates don't know what skills they're missing for target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526280"/>
            <a:ext cx="5486400" cy="86868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52628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45628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Skill Gap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9103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AI-generated priority gaps and learning path recommendations per job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532120"/>
            <a:ext cx="5486400" cy="868680"/>
          </a:xfrm>
          <a:prstGeom prst="rect">
            <a:avLst/>
          </a:prstGeom>
          <a:solidFill>
            <a:srgbClr val="3B0E0E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532120"/>
            <a:ext cx="54864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55686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Resume Duplication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59161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detection of duplicate or plagiarized resumes in the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532120"/>
            <a:ext cx="5486400" cy="86868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553212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55686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SHA-256 + NLP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59161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Hash-based exact duplicate + text cosine/Jaccard similarity for near-duplicates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Full-stack web application with AI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303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2468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React 19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UI component framework with full type safety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2468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07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Vite 8.x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Ultra-fast dev server and production bundler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39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2468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507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Tailwind CSS 4.x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Utility-first responsive styling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20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2468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93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Lucide React Icons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Consistent design icon library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11155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79" y="1691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79" y="1691640"/>
            <a:ext cx="24688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Node.js + Express 4.x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REST API server with middleware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79" y="2834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83279" y="2834640"/>
            <a:ext cx="24688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907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better-sqlite3 v11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Synchronous, high-performance SQLite driver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79" y="3977639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79" y="3977639"/>
            <a:ext cx="24688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0507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JWT + bcryptjs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Stateless authentication and password hashing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79" y="5120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79" y="5120640"/>
            <a:ext cx="24688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193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Multer 2.x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Resume and avatar file upload handling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1097280"/>
            <a:ext cx="2743200" cy="5303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11155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691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169164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Google Gemini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LLM for AI summaries, skill gap &amp; interview Qs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2834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283464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2907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Deterministic Parser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Rule-based text extraction from PDF/DOCX resumes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977639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63640" y="3977639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40507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SHA-256 + Cosine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Cryptographic &amp; NLP duplicate detection algorithms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5120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63640" y="512064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5193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Scoring Engine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Weighted composite match scoring (0–100%)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6840" y="1097280"/>
            <a:ext cx="2743200" cy="5303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06840" y="1097280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11155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1691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44000" y="16916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544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SQLite (resumio.db)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26-table relational schema, 3NF normalized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2834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44000" y="28346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35440" y="2907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PRAGMA foreign_keys 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Enforced referential integrity at database level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3977639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4000" y="3977639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35440" y="40507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B-Tree Indexes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11 strategic indexes for production query patterns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0" y="5120640"/>
            <a:ext cx="2468880" cy="100584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0" y="512064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35440" y="5193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ACID Transactions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3544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Atomic multi-step operations for data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Three-tier architecture with AI 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56616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56616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PRESENTATION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19 + TypeScript + Tailwind CSS
Vite Dev Server (port 5173)
Role-based routing (Candidate / Recruiter / Admin)
Responsive UI · Light &amp; Dark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</a:rPr>
              <a:t>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56616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56616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170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373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Express.js REST API (port 3001)
JWT Auth Middleware · Rate Limiting
Multer File Upload Handler
AI Processing Pipeline (Gemini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</a:rPr>
              <a:t>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356616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143000"/>
            <a:ext cx="3566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170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SQLite Database (resumio.db)
26 Relational Tables · 3NF Normalized
Foreign Key Enforcement (PRAGMA)
B-Tree Indexes · ACID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AI PROCESSING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5120640"/>
            <a:ext cx="1508760" cy="59436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" y="5120640"/>
            <a:ext cx="1508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5166360"/>
            <a:ext cx="1417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</a:rPr>
              <a:t>Resume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16636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5120640"/>
            <a:ext cx="1508760" cy="59436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65960" y="5120640"/>
            <a:ext cx="1508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79" y="5166360"/>
            <a:ext cx="1417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Text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59" y="516636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59" y="5120640"/>
            <a:ext cx="1508760" cy="59436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94759" y="5120640"/>
            <a:ext cx="1508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79" y="5166360"/>
            <a:ext cx="1417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Resume Parsing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59" y="516636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59" y="5120640"/>
            <a:ext cx="1508760" cy="59436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23559" y="5120640"/>
            <a:ext cx="15087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79" y="5166360"/>
            <a:ext cx="1417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</a:rPr>
              <a:t>Screening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516636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5120640"/>
            <a:ext cx="1508760" cy="59436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5120640"/>
            <a:ext cx="1508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0" y="5166360"/>
            <a:ext cx="1417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Match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16636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5120640"/>
            <a:ext cx="1508760" cy="59436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60" y="5120640"/>
            <a:ext cx="1508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5166360"/>
            <a:ext cx="14173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AI Summary + Skill Gap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52160"/>
            <a:ext cx="5394960" cy="64008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5852160"/>
            <a:ext cx="53949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90702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🔔  Notification System: In-app alerts for status changes &amp; interview scheduling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5852160"/>
            <a:ext cx="5760720" cy="64008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5852160"/>
            <a:ext cx="57607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590702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🔍  Duplicate Detection: SHA-256 hash (exact) + Cosine/Jaccard text similarity (near-duplicate)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Entity-Relationship (ER)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Chen's Notation — Entities, Relationships, Attributes &amp; Cardinalities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828800" cy="50292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069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Strong 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051560"/>
            <a:ext cx="1828800" cy="50292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051560"/>
            <a:ext cx="45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069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Double 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261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Weak 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51560"/>
            <a:ext cx="1828800" cy="50292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051560"/>
            <a:ext cx="45720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069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333EA"/>
                </a:solidFill>
              </a:rPr>
              <a:t>Diamond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261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Relationship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051560"/>
            <a:ext cx="1828800" cy="50292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051560"/>
            <a:ext cx="457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069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Ellipse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1261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051560"/>
            <a:ext cx="1828800" cy="50292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051560"/>
            <a:ext cx="457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069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Underlined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1261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Primary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1051560"/>
            <a:ext cx="1828800" cy="502920"/>
          </a:xfrm>
          <a:prstGeom prst="rect">
            <a:avLst/>
          </a:prstGeom>
          <a:solidFill>
            <a:srgbClr val="141F35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66960" y="1051560"/>
            <a:ext cx="45720" cy="502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1069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Dashed Ellipse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1261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Derived Attr.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485900"/>
            <a:ext cx="1645920" cy="594360"/>
          </a:xfrm>
          <a:prstGeom prst="rect">
            <a:avLst/>
          </a:prstGeom>
          <a:solidFill>
            <a:srgbClr val="0F172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15316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</a:rPr>
              <a:t>USER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2720339"/>
            <a:ext cx="1645920" cy="594360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276605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CANDIDATE
PROFILE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720339"/>
            <a:ext cx="1645920" cy="594360"/>
          </a:xfrm>
          <a:prstGeom prst="rect">
            <a:avLst/>
          </a:prstGeom>
          <a:solidFill>
            <a:srgbClr val="0F172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276605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RECRUITER
PROFILE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457700"/>
            <a:ext cx="1645920" cy="59436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45034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JOB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4091939"/>
            <a:ext cx="1645920" cy="594360"/>
          </a:xfrm>
          <a:prstGeom prst="rect">
            <a:avLst/>
          </a:prstGeom>
          <a:solidFill>
            <a:srgbClr val="0F172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413765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</a:rPr>
              <a:t>APPLICATIONS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5372100"/>
            <a:ext cx="1645920" cy="594360"/>
          </a:xfrm>
          <a:prstGeom prst="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54178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INTERVIEWS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686300"/>
            <a:ext cx="1463040" cy="502920"/>
          </a:xfrm>
          <a:prstGeom prst="rect">
            <a:avLst/>
          </a:prstGeom>
          <a:solidFill>
            <a:srgbClr val="0F1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00200" y="4732020"/>
            <a:ext cx="1371600" cy="411480"/>
          </a:xfrm>
          <a:prstGeom prst="rect">
            <a:avLst/>
          </a:prstGeom>
          <a:noFill/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47777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RESUME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2766060"/>
            <a:ext cx="1463040" cy="502920"/>
          </a:xfrm>
          <a:prstGeom prst="rect">
            <a:avLst/>
          </a:prstGeom>
          <a:solidFill>
            <a:srgbClr val="0F1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" y="2811779"/>
            <a:ext cx="1371600" cy="411480"/>
          </a:xfrm>
          <a:prstGeom prst="rect">
            <a:avLst/>
          </a:prstGeom>
          <a:noFill/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28575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SKILL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046220"/>
            <a:ext cx="1463040" cy="502920"/>
          </a:xfrm>
          <a:prstGeom prst="rect">
            <a:avLst/>
          </a:prstGeom>
          <a:solidFill>
            <a:srgbClr val="0F1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" y="4091939"/>
            <a:ext cx="1371600" cy="411480"/>
          </a:xfrm>
          <a:prstGeom prst="rect">
            <a:avLst/>
          </a:prstGeom>
          <a:noFill/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" y="41376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EDUCATION</a:t>
            </a:r>
          </a:p>
        </p:txBody>
      </p:sp>
      <p:sp>
        <p:nvSpPr>
          <p:cNvPr id="52" name="Diamond 51"/>
          <p:cNvSpPr/>
          <p:nvPr/>
        </p:nvSpPr>
        <p:spPr>
          <a:xfrm>
            <a:off x="3337560" y="2103120"/>
            <a:ext cx="1188720" cy="548640"/>
          </a:xfrm>
          <a:prstGeom prst="diamond">
            <a:avLst/>
          </a:prstGeom>
          <a:solidFill>
            <a:srgbClr val="141F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79" y="21762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</a:rPr>
              <a:t>HAS</a:t>
            </a:r>
          </a:p>
        </p:txBody>
      </p:sp>
      <p:sp>
        <p:nvSpPr>
          <p:cNvPr id="54" name="Diamond 53"/>
          <p:cNvSpPr/>
          <p:nvPr/>
        </p:nvSpPr>
        <p:spPr>
          <a:xfrm>
            <a:off x="6720840" y="2103120"/>
            <a:ext cx="1188720" cy="548640"/>
          </a:xfrm>
          <a:prstGeom prst="diamond">
            <a:avLst/>
          </a:prstGeom>
          <a:solidFill>
            <a:srgbClr val="141F3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0" y="21762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97316"/>
                </a:solidFill>
              </a:rPr>
              <a:t>HAS</a:t>
            </a:r>
          </a:p>
        </p:txBody>
      </p:sp>
      <p:sp>
        <p:nvSpPr>
          <p:cNvPr id="56" name="Diamond 55"/>
          <p:cNvSpPr/>
          <p:nvPr/>
        </p:nvSpPr>
        <p:spPr>
          <a:xfrm>
            <a:off x="8366760" y="3611880"/>
            <a:ext cx="1188720" cy="548640"/>
          </a:xfrm>
          <a:prstGeom prst="diamond">
            <a:avLst/>
          </a:prstGeom>
          <a:solidFill>
            <a:srgbClr val="141F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68503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</a:rPr>
              <a:t>POSTS</a:t>
            </a:r>
          </a:p>
        </p:txBody>
      </p:sp>
      <p:sp>
        <p:nvSpPr>
          <p:cNvPr id="58" name="Diamond 57"/>
          <p:cNvSpPr/>
          <p:nvPr/>
        </p:nvSpPr>
        <p:spPr>
          <a:xfrm>
            <a:off x="5074920" y="3246120"/>
            <a:ext cx="1188720" cy="548640"/>
          </a:xfrm>
          <a:prstGeom prst="diamond">
            <a:avLst/>
          </a:prstGeom>
          <a:solidFill>
            <a:srgbClr val="141F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33192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366F1"/>
                </a:solidFill>
              </a:rPr>
              <a:t>APPLIES</a:t>
            </a:r>
          </a:p>
        </p:txBody>
      </p:sp>
      <p:sp>
        <p:nvSpPr>
          <p:cNvPr id="60" name="Diamond 59"/>
          <p:cNvSpPr/>
          <p:nvPr/>
        </p:nvSpPr>
        <p:spPr>
          <a:xfrm>
            <a:off x="5074920" y="4754880"/>
            <a:ext cx="1188720" cy="548640"/>
          </a:xfrm>
          <a:prstGeom prst="diamond">
            <a:avLst/>
          </a:prstGeom>
          <a:solidFill>
            <a:srgbClr val="141F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0640" y="482803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</a:rPr>
              <a:t>SCHEDULES</a:t>
            </a:r>
          </a:p>
        </p:txBody>
      </p:sp>
      <p:sp>
        <p:nvSpPr>
          <p:cNvPr id="62" name="Diamond 61"/>
          <p:cNvSpPr/>
          <p:nvPr/>
        </p:nvSpPr>
        <p:spPr>
          <a:xfrm>
            <a:off x="1691640" y="3703320"/>
            <a:ext cx="1188720" cy="548640"/>
          </a:xfrm>
          <a:prstGeom prst="diamond">
            <a:avLst/>
          </a:prstGeom>
          <a:solidFill>
            <a:srgbClr val="141F3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0" y="37764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4444"/>
                </a:solidFill>
              </a:rPr>
              <a:t>UPLOADS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20574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2606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20574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9560" y="2606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3832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43891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7720" y="3474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34747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0" y="409651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0" y="53949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35661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0" y="46634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66360" y="106984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80" y="10881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6F1"/>
                </a:solidFill>
              </a:rPr>
              <a:t>_id_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125272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12710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email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20840" y="180136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66560" y="18196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role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244144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24597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status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39" y="221284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2959" y="22311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6B6D4"/>
                </a:solidFill>
              </a:rPr>
              <a:t>full_name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198424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20025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6B6D4"/>
                </a:solidFill>
              </a:rPr>
              <a:t>phone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-45720" y="3310127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0" y="332841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6B6D4"/>
                </a:solidFill>
              </a:rPr>
              <a:t>headline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79" y="468172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600" y="47000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compl%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38359" y="349300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84080" y="3511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9E0B"/>
                </a:solidFill>
              </a:rPr>
              <a:t>title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21240" y="440740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66960" y="44256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9E0B"/>
                </a:solidFill>
              </a:rPr>
              <a:t>deadline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21240" y="504748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66960" y="50657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9E0B"/>
                </a:solidFill>
              </a:rPr>
              <a:t>company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372600" y="532180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418320" y="53400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97316"/>
                </a:solidFill>
              </a:rPr>
              <a:t>{req_skills}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60520" y="440740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06240" y="44256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66F1"/>
                </a:solidFill>
              </a:rPr>
              <a:t>status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069080" y="486460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14800" y="48828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66F1"/>
                </a:solidFill>
              </a:rPr>
              <a:t>applied_at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69080" y="559612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0" y="56144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type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355080" y="5687568"/>
            <a:ext cx="100584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0" y="5705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sched_at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Database Entity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Complete listing of all 26 tables across 8 development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1155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Domain /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15568"/>
            <a:ext cx="7223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Entity Names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11430000" cy="5943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54864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37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366F1"/>
                </a:solidFill>
              </a:rPr>
              <a:t>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Auth &amp;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664208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users, candidate_profiles, recruiter_profiles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21992"/>
            <a:ext cx="11430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21992"/>
            <a:ext cx="54864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591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4–9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Candidate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candidate_education, candidate_skills, candidate_experience,
candidate_projects, candidate_certifications, candidate_resumes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43784"/>
            <a:ext cx="11430000" cy="5943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843784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809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10–12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Job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907792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jobs, job_required_skills, job_preferred_skills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65576"/>
            <a:ext cx="11430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465576"/>
            <a:ext cx="54864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0273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13–14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02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529584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applications, application_status_history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87368"/>
            <a:ext cx="11430000" cy="5943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087368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224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15–16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151376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resume_parsed_data, resume_screenings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1430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709160"/>
            <a:ext cx="54864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846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366F1"/>
                </a:solidFill>
              </a:rPr>
              <a:t>17–19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Matching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773168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resume_job_matches, candidate_job_summaries, skill_gap_analyses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30952"/>
            <a:ext cx="11430000" cy="5943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330952"/>
            <a:ext cx="54864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4681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7316"/>
                </a:solidFill>
              </a:rPr>
              <a:t>20–22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Interviews &amp; 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5394960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interviews, interview_status_history, notifications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952744"/>
            <a:ext cx="11430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952744"/>
            <a:ext cx="54864" cy="594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0899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4899"/>
                </a:solidFill>
              </a:rPr>
              <a:t>23–26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6089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Advanced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6016752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natural_language_searches, interview_question_sets,
resume_improvement_analyses, resume_duplicate_matches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Relational Schema — Part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Phase 1: Core Authentication &amp; User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0272" cy="378561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0272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(Strong Entity)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VARCHAR(255)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UNIQUE · NOT NULL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password_hash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VARCHAR(255)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CHECK(candidate/
recruiter/admin)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active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created_at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updated_at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1097280"/>
            <a:ext cx="3700272" cy="416966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75760" y="1097280"/>
            <a:ext cx="3700272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4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CANDIDATE_PROFILES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(Strong Entity)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3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1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1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1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user_id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1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 · UNIQUE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1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full_name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phone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5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7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1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location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1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1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headline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1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bio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1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7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1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profile_completion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1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5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30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85760" y="1097280"/>
            <a:ext cx="3700272" cy="416966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85760" y="1097280"/>
            <a:ext cx="3700272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5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RECRUITER_PROFILES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5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(Strong Entity)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8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4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4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8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8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2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2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8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2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user_id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2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6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 · UNIQUE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2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full_name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2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VARCHAR(100)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6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8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2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company_name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2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VARCHAR(150)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8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2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industry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2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VARCHAR(100)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8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2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location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2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VARCHAR(100)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8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2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website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2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VARCHAR(200)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6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8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2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profile_completion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2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6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Relational Schema — Part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Phases 2–3: Candidate Portfolio &amp; Job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0272" cy="378561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027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CANDIDATE_RESUMES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(Weak Entity)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candidate_profile_id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FK→CAND_PROFILES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original_filename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VARCHAR(255)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stored_filename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VARCHAR(255)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file_type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file_size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is_active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1097280"/>
            <a:ext cx="3700272" cy="4937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75760" y="1097280"/>
            <a:ext cx="370027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4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(Strong Entity)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3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1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1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1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recruiter_id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1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1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recruiter_profile_id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FK→RECRUITER_PROF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title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VARCHAR(150)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5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7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1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company_name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1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VARCHAR(150)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1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employment_type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1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VARCHAR(30)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 · CHECK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work_mode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1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 · CHECK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7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1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salary_min / max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1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5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75760" y="4882896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12336" y="492861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status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18439" y="492861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54515" y="492861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Draft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75760" y="5266944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12336" y="531266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deadline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18439" y="531266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4515" y="531266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85760" y="1097280"/>
            <a:ext cx="3700272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85760" y="1097280"/>
            <a:ext cx="370027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5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JOB_REQUIRED_SKILLS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5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(Multivalued Attr.)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8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4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4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8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2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2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6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8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2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job_id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2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FK→JOBS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8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2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name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2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VARCHAR(100)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8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2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created_at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2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8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2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2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UNIQUE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6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(job_id, lower(name))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Relational Schema — Part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Phases 4–6: Applications, AI Parsing &amp;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0272" cy="45537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0272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(Relationship Entity)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candidate_profile_id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FK→CAND_PROFILES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job_id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FK→JOBS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resume_id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FK→RESUMES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cover_letter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VARCHAR(30)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Applied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applied_at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0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82896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492861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08439" y="492861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UNIQUE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44515" y="492861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(candidate_id, job_id)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5760" y="1097280"/>
            <a:ext cx="3700272" cy="4937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75760" y="1097280"/>
            <a:ext cx="3700272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RESUME_JOB_MATCHES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(AI Match Entity)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3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1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resume_id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5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FK→RESUMES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7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1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job_id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1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FK→JOBS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1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application_id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1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FK→APPLICATIONS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1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7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1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match_score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1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5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7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1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required_skills_score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1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5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0.0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7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1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preferred_skills_score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1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0.0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75760" y="4882896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12336" y="492861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experience_score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18439" y="492861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54515" y="492861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0.0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75760" y="5266944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12336" y="531266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qualification_score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8439" y="531266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54515" y="531266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0.0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5760" y="1097280"/>
            <a:ext cx="3700272" cy="45537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985760" y="1097280"/>
            <a:ext cx="3700272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5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RESUME_PARSED_DATA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5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(1:1 Parsed Data)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8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4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4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8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8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2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2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8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2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resume_id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2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FK→RESUMES · UNIQUE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8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2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candidate_id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2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6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8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2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file_hash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2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VARCHAR(64)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6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98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2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status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2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6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Not Processed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8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2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raw_text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2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46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98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2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skills_json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42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46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[]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98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02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education_json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42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46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[]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985760" y="4882896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22336" y="492861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experience_json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28439" y="492861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64515" y="492861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[]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Relational Schema — Part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Phases 7–8: Interviews, Notifications &amp; Advanced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0272" cy="45537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0272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(Strong Entity)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application_id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FK→APPLICATIONS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recruiter_id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job_id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FK→JOBS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interview_type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CHECK(Video/Phone
/In Person)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scheduled_at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duration_minutes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0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82896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492861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08439" y="492861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VARCHAR(30)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44515" y="492861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Scheduled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5760" y="1097280"/>
            <a:ext cx="3700272" cy="45537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75760" y="1097280"/>
            <a:ext cx="3700272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(Strong Entity)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3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1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user_id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5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7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1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type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1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VARCHAR(50)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 · CHECK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1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title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1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VARCHAR(200)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message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1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TEXT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7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1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related_entity_type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1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VARCHAR(30)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5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7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1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related_entity_id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1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5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7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1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is_read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1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DEFAULT 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75760" y="4882896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12336" y="492861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created_at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18439" y="492861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54515" y="492861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NOT NULL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85760" y="1097280"/>
            <a:ext cx="3700272" cy="4169663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985760" y="1097280"/>
            <a:ext cx="3700272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8912" y="1115568"/>
            <a:ext cx="355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RESUME_DUPLICATE_MATCHES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58912" y="1335024"/>
            <a:ext cx="35539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DBFE"/>
                </a:solidFill>
              </a:rPr>
              <a:t>(Phase 8 AI)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5760" y="1536192"/>
            <a:ext cx="3700272" cy="2743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0624" y="1554480"/>
            <a:ext cx="14061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Attribute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46727" y="1554480"/>
            <a:ext cx="1036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Data Type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82803" y="1554480"/>
            <a:ext cx="12123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Constraint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85760" y="1810512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22336" y="1856231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🔑 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28439" y="1856231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4515" y="1856231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PK · NOT NULL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85760" y="2194560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22336" y="2240279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resume_id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28439" y="2240279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4515" y="2240279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FK→RESUMES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85760" y="2578608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22336" y="2624327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matched_resume_id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28439" y="2624327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4515" y="2624327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FK→RESUMES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85760" y="2962656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22336" y="3008376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candidate_id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28439" y="3008376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64515" y="3008376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85760" y="3346704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22336" y="3392424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B6D4"/>
                </a:solidFill>
              </a:rPr>
              <a:t>🔗 matched_candidate_id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28439" y="3392424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CHAR(36)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64515" y="3392424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DD3FC"/>
                </a:solidFill>
              </a:rPr>
              <a:t>FK→USERS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985760" y="3730752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22336" y="3776472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similarity_type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28439" y="3776472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VARCHAR(30)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64515" y="3776472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CHECK(Exact/Likely
/Not Duplicate)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85760" y="4114800"/>
            <a:ext cx="370027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22336" y="4160520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similarity_score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28439" y="4160520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REAL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464515" y="4160520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985760" y="4498848"/>
            <a:ext cx="3700272" cy="3657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22336" y="4544568"/>
            <a:ext cx="1406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detection_method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428439" y="4544568"/>
            <a:ext cx="1036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VARCHAR(30)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464515" y="4544568"/>
            <a:ext cx="12123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SHA-256/Cosine
/Hybrid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 — Candidate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Everything a candidate can do on Resumio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521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👤 Profile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179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Build a rich professional profile with education, skills, experience, projects, and certifications. Auto-calculated completion percentage (10 sections × 10%).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521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📄 Resume Upload &amp;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179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Upload PDF or DOCX resumes. System stores original filename + unique stored filename. Multiple resumes supported with one active at a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48839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48839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037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🔍 Job Discovery &amp;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69463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Browse all published job postings. Filter by work mode (Remote/Hybrid/On-site), employment type, location, salary range, and keyword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48839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20370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📝 Job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9463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One-click apply with selected resume + optional cover letter. Duplicate prevention — one application per job enforced at DB level (UNIQUE constraint).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552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📊 Application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2102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View all applications with status pipeline: Applied → Under Review → Shortlisted → Rejected/Withdrawn. Full audit timeline with timestamps.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552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🤖 AI Match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2102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See your resume–job match score (0–100%) with breakdown: Required Skills, Preferred Skills, Experience, Qualification components.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51959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251959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30682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📋 Skill Gap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72583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Receive AI-generated skill gap analysis: what skills you're missing, priority gaps, matched areas, and learning path recommendations.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251959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251959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0682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📅 Interview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72583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View scheduled interviews with type (Video/Phone/In-Person), date, time, duration, meeting link, and status history.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303520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303520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5838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🔔 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241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Real-time in-app notifications for application status changes, interview scheduling, rescheduling, and cancellations.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303520"/>
            <a:ext cx="55778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303520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35838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💡 Resume Improvement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7241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Get AI-generated section-by-section resume improvement feedback tailored to your target job role.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 — Recruiter &amp; Admin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Full recruitment management and platform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RECRUITER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📢 Job Posting &amp;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1051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Create, edit, publish, and close job postings with full details: skills, salary, work mode, qualifications, and application deadline.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8988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389888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44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👥 Applicant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81051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View all applicants for each job. Filter by status, search by name/email. See candidate profiles with education, skills, and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4144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441448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963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⭐ AI Candidate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6207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Candidates auto-ranked by match score (0–100%). Recruiter sees required skills score, preferred skills score, experience and qualification breakdown.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44144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2441448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4963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🔄 Application Status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86207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Move candidates through pipeline: Applied → Under Review → Shortlisted → Rejected. Every change logged in audit trail with timestamp.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9300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93008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547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📅 Interview Scheduling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1363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Schedule Video, Phone, or In-Person interviews. Set date, time, duration, meeting URL, and description. System auto-notifies candidate.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49300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3493008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547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🔍 Natural Language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91363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Phase 8 AI: Search candidates using natural language ('Find React developers with 5 years experience in Bangalore'). AI interprets and filters.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4456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544568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59943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❓ AI Interview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651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Auto-generate categorized interview questions (Technical, Behavioral, Situational) based on job requirements and candidate's resume.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4544568"/>
            <a:ext cx="35661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4544568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459943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📊 Recruitment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9651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Dashboard metrics: total applicants, pipeline conversion rates, match score distribution, interview outcomes, hiring funnel stats.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1024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ADMIN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1389888"/>
            <a:ext cx="402336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0" y="1389888"/>
            <a:ext cx="40233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14813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🛡️ User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1938528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View and manage all users (candidates, recruiters). Activate, deactivate, or suspend accounts. Role-based access enforcement.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3584448"/>
            <a:ext cx="402336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63840" y="3584448"/>
            <a:ext cx="40233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367588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📈 Platform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133087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System-wide statistics: total users, jobs, applications, interviews, AI match counts, screening completion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Phase 5–8 AI capabilities powering Resumio's smart recruitment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📄 Resume Parsing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Extracts structured data from raw resume text: personal info, skills, education, experience, projects, certifications, languages, achievements. Uses regex + NLP heuristics. Runs on any PDF or DOCX 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56692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5669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🎯 Match Scoring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Deterministic composite scoring:
• Required Skills Match: 40% weight
• Preferred Skills Match: 20% weight
• Experience Match: 25% weight
• Qualification Match: 15% weight
Final score: 0–100 integer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56692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5669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🧠 AI Candidate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0020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Gemini LLM generates a 3–5 sentence executive narrative summarizing why a candidate is or isn't suitable for the role, based on actual match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56692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5669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📋 Skill Gap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0332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AI-generated priority gap list: missing required skills ranked by importance, matched skill areas, and personalized learning path recommendations with resources.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3657600" cy="1325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303520"/>
            <a:ext cx="3657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949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💡 Resume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06440"/>
            <a:ext cx="33832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Section-by-section review: identifies weak areas in Summary, Skills, Experience, Education sections and gives specific actionable improvement suggestions.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5303520"/>
            <a:ext cx="3657600" cy="1325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530352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53949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🔍 Natural Language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806440"/>
            <a:ext cx="33832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Recruiter types in plain English to search candidates. AI (Gemini) interprets query into structured filters (skills, experience, location, salary). Results logged in natural_language_searches table.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303520"/>
            <a:ext cx="3657600" cy="1325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530352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53949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🔁 Duplicate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806440"/>
            <a:ext cx="33832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Two-stage detection:
1. SHA-256 hash comparison → Exact Duplicate
2. Cosine/Jaccard text similarity → Likely Duplicate
Results stored in resume_duplicate_matches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Normalization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Demonstrating 1NF → 2NF → 3NF compliance across all 26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657600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65760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1NF
First Normal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All tables have a PRIMARY KEY (id CHAR(36) UUID)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Every attribute contains ATOMIC values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No repeating groups — multi-valued attributes
   decomposed into separate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Skills → candidate_skills table (not a comma list)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26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Required skills → job_required_skills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Education → candidate_education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97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Experience → candidate_experience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097280"/>
            <a:ext cx="3657600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097280"/>
            <a:ext cx="36576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11556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2NF
Second Normal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All 1NF conditions are satisfied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No partial dependencies — all primary keys
   are single-column surrogate UUIDs (CHAR 36)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Non-key attributes are fully functionally
   dependent on the entire primary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840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No attribute depends on only part of a
   composite key (no composite PKs exist)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526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Example: In applications, status depends on
   the full application id, not just candidate_id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097280"/>
            <a:ext cx="3657600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097280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11556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3NF
Third Normal 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All 2NF conditions are satisfied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No transitive dependencies 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Company info stored in recruiter_profiles,
   not duplicated inside every jobs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840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Candidate personal data in candidate_profiles,
   referenced by foreign key in 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526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Salary info stored in jobs table only,
   not duplicated in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212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Match scores stored in resume_job_matches,
   not duplicated in applications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Indexing Strategy &amp; ACID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Performance optimization and transaction guarantee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B-Tree Index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7223760" cy="34747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Index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087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50876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Optimizes Query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72237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36576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901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idx_users_email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9019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User authentication login lookup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86000"/>
            <a:ext cx="722376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286000"/>
            <a:ext cx="36576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359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idx_jobs_status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377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Candidate job discovery (Published)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43200"/>
            <a:ext cx="72237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743200"/>
            <a:ext cx="36576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816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</a:rPr>
              <a:t>idx_jobs_recruiter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8163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recruiter_id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Recruiter job dashboard filtering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00400"/>
            <a:ext cx="722376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00400"/>
            <a:ext cx="36576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273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idx_applications_candidate_id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applications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2735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candidate_id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Candidate applied jobs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657600"/>
            <a:ext cx="72237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657600"/>
            <a:ext cx="36576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730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idx_applications_job_id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37490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applications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37307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job_id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37490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Recruiter applicant pipeline 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114800"/>
            <a:ext cx="722376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114800"/>
            <a:ext cx="36576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idx_matches_score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resume_job_matches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41879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job_id, match_score DESC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AI candidate ranking leaderboard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72000"/>
            <a:ext cx="72237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572000"/>
            <a:ext cx="36576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645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idx_interviews_cand_sched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interviews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4645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candidate_id, scheduled_at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4663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Candidate interview timeline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029200"/>
            <a:ext cx="722376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029200"/>
            <a:ext cx="36576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5102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idx_notifications_user_read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notifications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51023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user_id, is_read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5120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Notification bell unread counter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486400"/>
            <a:ext cx="72237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486400"/>
            <a:ext cx="36576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5559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</a:rPr>
              <a:t>idx_unique_candidate_skill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8036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candidate_skills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0520" y="55595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profile_id, lower(name)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924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Prevents duplicate skill entries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0" y="1051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ACID Transaction Compliance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1481328"/>
            <a:ext cx="402336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63840" y="1481328"/>
            <a:ext cx="40233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01000" y="1572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A  Atomicity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195681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Multi-step operations execute as a single unit. If any step fails, all changes are rolled back automatically.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2761488"/>
            <a:ext cx="402336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63840" y="2761488"/>
            <a:ext cx="4023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01000" y="28529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  Consistency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01000" y="323697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Foreign key enforcement (PRAGMA foreign_keys = ON), CHECK constraints, and UNIQUE constraints maintain valid state.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4041648"/>
            <a:ext cx="402336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863840" y="4041648"/>
            <a:ext cx="40233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0" y="413308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I  Isolation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451713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SQLite WAL mode ensures concurrent reads don't block writes. Each transaction sees a consistent snapshot.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63840" y="5321807"/>
            <a:ext cx="402336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863840" y="5321807"/>
            <a:ext cx="40233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541324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D  Durability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579729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All committed transactions are persisted to disk (resumio.db). Data survives application restarts and crashes.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Referential Integrity &amp; Cascade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How the database maintains consistent and orphan-free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5778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🔗 Foreign Key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1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SQLite PRAGMA foreign_keys = ON is executed on every database connection. This ensures all FK relationships are actively enforced — inserts and updates that violate referential integrity are rejected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778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" cy="1600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⛓️ Cascade Delete — User Deprovisioning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1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Deleting a USERS record cascades to: candidate_profiles → candidate_education, candidate_skills, candidate_resumes, etc. AND recruiter_profiles → jobs → applications → interviews → notifications. Complete tree cleanup.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34639"/>
            <a:ext cx="55778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34639"/>
            <a:ext cx="54864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260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📌 Immutable Resume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64991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applications.resume_id references candidate_resumes(id) WITHOUT ON DELETE CASCADE. This means historical applications retain their exact submitted resume reference even if the candidate later deletes that resume.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39"/>
            <a:ext cx="55778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39"/>
            <a:ext cx="54864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📝 Audit Trail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64991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application_status_history and interview_status_history are append-only records. Every status change is logged with the acting user ID (changed_by), timestamp, old status, new status, and note 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55778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54864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🔒 Unique Constraint — Duplicate Prevention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023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UNIQUE(candidate_id, job_id) on applications prevents any candidate from submitting duplicate applications to the same job. Enforced at DB layer, not just application layer.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572000"/>
            <a:ext cx="55778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57200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✅ Integrity Verification at Startup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023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On every server start, verifyDatabaseIntegrity() runs PRAGMA foreign_key_check and checks for orphan records (resumes, apps, interviews, matches). Prints 0 violations or detailed warning.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SQL Queries &amp; Database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Representative queries demonstrating schema 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49039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Candidate Ranking by Match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3566160" cy="47548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3383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D3FC"/>
                </a:solidFill>
              </a:rPr>
              <a:t>SELECT cp.full_name, u.email,
  rjm.match_score,
  rjm.required_skills_score,
  rjm.experience_score
FROM resume_job_matches rjm
JOIN users u ON rjm.candidate_id = u.id
JOIN candidate_profiles cp
  ON rjm.candidate_profile_id = cp.id
WHERE rjm.job_id = ?
ORDER BY rjm.match_score DESC;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749039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124712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 Status Pipeline Stats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45920"/>
            <a:ext cx="3566160" cy="47548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55648"/>
            <a:ext cx="3383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D3FC"/>
                </a:solidFill>
              </a:rPr>
              <a:t>SELECT
  COUNT(*) as total,
  SUM(status='Applied') as applied,
  SUM(status='Under Review') as reviewing,
  SUM(status='Shortlisted') as shortlisted,
  SUM(status='Rejected') as rejected
FROM applications a
JOIN jobs j ON a.job_id = j.id
WHERE j.recruiter_id = ?;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749039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3749039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124712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Foreign Key Integrity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645920"/>
            <a:ext cx="3566160" cy="475488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755648"/>
            <a:ext cx="33832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D3FC"/>
                </a:solidFill>
              </a:rPr>
              <a:t>-- Run at every server startup
PRAGMA foreign_key_check;
-- Custom orphan check
SELECT COUNT(*) FROM candidate_resumes
WHERE candidate_profile_id NOT IN
  (SELECT id FROM candidate_profiles);
-- 0 violations confirms schema integrity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Demo Accounts &amp; System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Pre-seeded accounts for instant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3152" cy="1371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🔑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Email: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admin@resumio.ai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64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Password: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AdminPass123!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11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platform access, user management,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114300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73152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🎓 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72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Email: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72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rahul.kumar@resumio.ai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72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Password: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172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Candidate123!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520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Pre-built profile: B.Tech CS, 6yr experience, AWS certified, React/TypeScript skills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114300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73152" cy="1371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</a:rPr>
              <a:t>🏢 RECRUITER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81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Email: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81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sarah.j@talentcorp.io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81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Password: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Recruiter123!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Nexus AI Technologies, San Francisco — job postings, applicant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7150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📋 Test Coverage — 9 Phase Test Suites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1: Auth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18488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18488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55064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11095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2: Profiles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71216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71216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2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63824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3: Jobs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23944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23944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4: Applications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76672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76672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13248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5: Parsing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29400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65976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22008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6: Matching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82128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82128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18704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74736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7: Interviews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34856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34856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1432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27464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8: AI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87584" y="6144768"/>
            <a:ext cx="1143000" cy="502920"/>
          </a:xfrm>
          <a:prstGeom prst="rect">
            <a:avLst/>
          </a:prstGeom>
          <a:solidFill>
            <a:srgbClr val="06241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87584" y="6144768"/>
            <a:ext cx="1143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24160" y="616305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80192" y="61813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Phase 9: Security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0040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RESUMIO — AI Resume Screening &amp; Recruitment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DBMS Project  ·  M. Sundhip Manhooj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25603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520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26 Relational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04164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Fully designed in 3NF across 8 development phases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429000"/>
            <a:ext cx="25603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342900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3520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100% FK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04164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Zero violations — all foreign keys enforced at database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429000"/>
            <a:ext cx="25603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42900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520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</a:rPr>
              <a:t>AI-Powered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04164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Deterministic 0–100% match score with skill gap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429000"/>
            <a:ext cx="25603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3429000"/>
            <a:ext cx="2560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35204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</a:rPr>
              <a:t>Full-Stack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04164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React 19 + Express + SQLite — production-ready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GitHub Repository:  github.com/sundhip/Resumio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🔗  github.com/sundhip/Resumio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